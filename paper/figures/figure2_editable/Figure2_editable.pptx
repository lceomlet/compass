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9d5c7fbd804e85" /><Relationship Type="http://schemas.openxmlformats.org/officeDocument/2006/relationships/extended-properties" Target="/docProps/app.xml" Id="Ra915204051684494" /><Relationship Type="http://schemas.openxmlformats.org/officeDocument/2006/relationships/officeDocument" Target="/ppt/presentation.xml" Id="R2957c00121474a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dc8e006b72493a"/>
  </p:sldMasterIdLst>
  <p:notesMasterIdLst>
    <p:notesMasterId xmlns:r="http://schemas.openxmlformats.org/officeDocument/2006/relationships" r:id="R8915e8216be84919"/>
  </p:notesMasterIdLst>
  <p:sldIdLst>
    <p:sldId xmlns:r="http://schemas.openxmlformats.org/officeDocument/2006/relationships" id="256" r:id="R9489e1775fad4c56"/>
  </p:sldIdLst>
  <p:sldSz cx="13326586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fc6019a61742bc" /><Relationship Type="http://schemas.openxmlformats.org/officeDocument/2006/relationships/slideMaster" Target="/ppt/slideMasters/slideMaster1.xml" Id="R65dc8e006b72493a" /><Relationship Type="http://schemas.openxmlformats.org/officeDocument/2006/relationships/notesMaster" Target="/ppt/notesMasters/notesMaster1.xml" Id="R8915e8216be84919" /><Relationship Type="http://schemas.openxmlformats.org/officeDocument/2006/relationships/presProps" Target="/ppt/presProps.xml" Id="Rf70224f1a4d642b7" /><Relationship Type="http://schemas.openxmlformats.org/officeDocument/2006/relationships/tableStyles" Target="/ppt/tableStyles.xml" Id="R691f674ecaf44795" /><Relationship Type="http://schemas.openxmlformats.org/officeDocument/2006/relationships/slide" Target="/ppt/slides/slide1.xml" Id="R9489e1775fad4c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463dc2e30745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9d2e74f44a450c" /><Relationship Type="http://schemas.openxmlformats.org/officeDocument/2006/relationships/notesMaster" Target="/ppt/notesMasters/notesMaster1.xml" Id="Re165380fa4304c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COMPASS paper, current Figure 2, paper/figures/figure1/figure1_compass_evidence_routing.pdf.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5a1abe678347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4ae0ef30f84fc0" /><Relationship Type="http://schemas.openxmlformats.org/officeDocument/2006/relationships/slideLayout" Target="/ppt/slideLayouts/slideLayout1.xml" Id="Rc8cfe72f4a6a47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cfe72f4a6a47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cbb963aa84720" /><Relationship Type="http://schemas.openxmlformats.org/officeDocument/2006/relationships/notesSlide" Target="/ppt/notesSlides/notesSlide1.xml" Id="Rc3cf04c925ec4241" /></Relationships>
</file>

<file path=ppt/slides/slide1.xml><?xml version="1.0" encoding="utf-8"?>
<p:sld xmlns:p="http://schemas.openxmlformats.org/presentationml/2006/main" xmlns:a="http://schemas.openxmlformats.org/drawingml/2006/main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7" name="score-table-frame">
            <a:extLst>
              <a:ext uri="{FF2B5EF4-FFF2-40B4-BE49-F238E27FC236}">
                <a16:creationId xmlns:a16="http://schemas.microsoft.com/office/drawing/2014/main" id="{0AEDEFF4-2913-4B17-A0CD-7CF3D54A966E}"/>
              </a:ext>
            </a:extLst>
          </p:cNvPr>
          <p:cNvSpPr>
            <a:spLocks noGrp="1"/>
          </p:cNvSpPr>
          <p:nvPr/>
        </p:nvSpPr>
        <p:spPr>
          <a:xfrm>
            <a:off x="610711" y="304800"/>
            <a:ext cx="4381500" cy="1809750"/>
          </a:xfrm>
          <a:prstGeom prst="roundRect">
            <a:avLst>
              <a:gd name="adj" fmla="val 3342"/>
            </a:avLst>
          </a:prstGeom>
          <a:solidFill>
            <a:srgbClr val="FFFFFF"/>
          </a:solidFill>
          <a:ln w="26781">
            <a:solidFill>
              <a:srgbClr val="3B5A7A"/>
            </a:solidFill>
          </a:ln>
        </p:spPr>
      </p:sp>
      <p:sp>
        <p:nvSpPr>
          <p:cNvPr id="2" name="score-table-title">
            <a:extLst>
              <a:ext uri="{FF2B5EF4-FFF2-40B4-BE49-F238E27FC236}">
                <a16:creationId xmlns:a16="http://schemas.microsoft.com/office/drawing/2014/main" id="{DFC4B099-413B-4B27-9D7C-5AE280F59935}"/>
              </a:ext>
            </a:extLst>
          </p:cNvPr>
          <p:cNvSpPr>
            <a:spLocks noGrp="1"/>
          </p:cNvSpPr>
          <p:nvPr/>
        </p:nvSpPr>
        <p:spPr>
          <a:xfrm rot="0">
            <a:off x="763111" y="276225"/>
            <a:ext cx="40005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 fontAlgn="base">
              <a:defRPr sz="2372" lang="en-US" b="0" i="0" dirty="0">
                <a:solidFill>
                  <a:srgbClr val="3B5A7A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3B5A7A"/>
                </a:solidFill>
                <a:latin typeface="Times New Roman"/>
                <a:ea typeface="Times New Roman"/>
              </a:rPr>
              <a:t xml:space="preserve">Score table </a:t>
            </a: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3B5A7A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3B5A7A"/>
                        </a:solidFill>
                        <a:latin typeface="Cambria Math"/>
                        <a:ea typeface="Cambria Math"/>
                      </a:rPr>
                      <m:t xml:space="preserve">q</m:t>
                    </m:r>
                  </m:e>
                  <m:sub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3B5A7A"/>
                        </a:solidFill>
                        <a:latin typeface="Cambria Math"/>
                        <a:ea typeface="Cambria Math"/>
                      </a:rPr>
                      <m:t xml:space="preserve">t</m:t>
                    </m:r>
                  </m:sub>
                </m:sSub>
                <m:r>
                  <m:rPr>
                    <m:sty m:val="p"/>
                  </m:rPr>
                  <a:rPr sz="2372" lang="en-US" b="0" i="0" dirty="0">
                    <a:solidFill>
                      <a:srgbClr val="3B5A7A"/>
                    </a:solidFill>
                    <a:latin typeface="Cambria Math"/>
                    <a:ea typeface="Cambria Math"/>
                  </a:rPr>
                  <m:t xml:space="preserve">(</m:t>
                </m:r>
                <m:r>
                  <m:rPr>
                    <m:sty m:val="i"/>
                  </m:rPr>
                  <a:rPr sz="2372" lang="en-US" b="0" i="0" dirty="0">
                    <a:solidFill>
                      <a:srgbClr val="3B5A7A"/>
                    </a:solidFill>
                    <a:latin typeface="Cambria Math"/>
                    <a:ea typeface="Cambria Math"/>
                  </a:rPr>
                  <m:t xml:space="preserve">u</m:t>
                </m:r>
                <m:r>
                  <m:rPr>
                    <m:sty m:val="p"/>
                  </m:rPr>
                  <a:rPr sz="2372" lang="en-US" b="0" i="0" dirty="0">
                    <a:solidFill>
                      <a:srgbClr val="3B5A7A"/>
                    </a:solidFill>
                    <a:latin typeface="Cambria Math"/>
                    <a:ea typeface="Cambria Math"/>
                  </a:rPr>
                  <m:t xml:space="preserve">,</m:t>
                </m:r>
                <m:r>
                  <m:rPr>
                    <m:sty m:val="i"/>
                  </m:rPr>
                  <a:rPr sz="2372" lang="en-US" b="0" i="0" dirty="0">
                    <a:solidFill>
                      <a:srgbClr val="3B5A7A"/>
                    </a:solidFill>
                    <a:latin typeface="Cambria Math"/>
                    <a:ea typeface="Cambria Math"/>
                  </a:rPr>
                  <m:t xml:space="preserve">x</m:t>
                </m:r>
                <m:r>
                  <m:rPr>
                    <m:sty m:val="p"/>
                  </m:rPr>
                  <a:rPr sz="2372" lang="en-US" b="0" i="0" dirty="0">
                    <a:solidFill>
                      <a:srgbClr val="3B5A7A"/>
                    </a:solidFill>
                    <a:latin typeface="Cambria Math"/>
                    <a:ea typeface="Cambria Math"/>
                  </a:rPr>
                  <m:t xml:space="preserve">)</m:t>
                </m:r>
              </m:oMath>
            </a14:m>
            <a:endParaRPr lang="en-US" sz="2372"/>
          </a:p>
        </p:txBody>
      </p:sp>
      <p:sp>
        <p:nvSpPr>
          <p:cNvPr id="3" name="table-candidate-instance-axis">
            <a:extLst>
              <a:ext uri="{FF2B5EF4-FFF2-40B4-BE49-F238E27FC236}">
                <a16:creationId xmlns:a16="http://schemas.microsoft.com/office/drawing/2014/main" id="{AF3338C6-0654-494A-BBA5-0AEE306107FE}"/>
              </a:ext>
            </a:extLst>
          </p:cNvPr>
          <p:cNvSpPr>
            <a:spLocks noGrp="1"/>
          </p:cNvSpPr>
          <p:nvPr/>
        </p:nvSpPr>
        <p:spPr>
          <a:xfrm rot="0">
            <a:off x="686911" y="561975"/>
            <a:ext cx="9525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 fontAlgn="base">
              <a:defRPr sz="2372" lang="en-US" b="0" i="0" dirty="0">
                <a:solidFill>
                  <a:srgbClr val="5A6775"/>
                </a:solidFill>
                <a:latin typeface="Times New Roman"/>
                <a:ea typeface="Times New Roman"/>
              </a:defRPr>
            </a:pPr>
            <a14:m>
              <m:oMath>
                <m:r>
                  <m:rPr>
                    <m:sty m:val="i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u</m:t>
                </m:r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\</m:t>
                </m:r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 </m:t>
                </m:r>
                <m:r>
                  <m:rPr>
                    <m:sty m:val="i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x</m:t>
                </m:r>
              </m:oMath>
            </a14:m>
            <a:endParaRPr lang="en-US" sz="2372"/>
          </a:p>
        </p:txBody>
      </p:sp>
      <p:sp>
        <p:nvSpPr>
          <p:cNvPr id="4" name="table-column-1">
            <a:extLst>
              <a:ext uri="{FF2B5EF4-FFF2-40B4-BE49-F238E27FC236}">
                <a16:creationId xmlns:a16="http://schemas.microsoft.com/office/drawing/2014/main" id="{5E5F149D-8060-48D8-AA61-F93C2DF12616}"/>
              </a:ext>
            </a:extLst>
          </p:cNvPr>
          <p:cNvSpPr>
            <a:spLocks noGrp="1"/>
          </p:cNvSpPr>
          <p:nvPr/>
        </p:nvSpPr>
        <p:spPr>
          <a:xfrm rot="0">
            <a:off x="1872774" y="561975"/>
            <a:ext cx="40957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5A6775"/>
                </a:solidFill>
                <a:latin typeface="Times New Roman"/>
                <a:ea typeface="Times New Roman"/>
              </a:defRPr>
            </a:pP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x</m:t>
                    </m:r>
                  </m:e>
                  <m:sub>
                    <m:r>
                      <m:rPr>
                        <m:sty m:val="p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1</m:t>
                    </m:r>
                  </m:sub>
                </m:sSub>
              </m:oMath>
            </a14:m>
            <a:endParaRPr lang="en-US" sz="2372"/>
          </a:p>
        </p:txBody>
      </p:sp>
      <p:sp>
        <p:nvSpPr>
          <p:cNvPr id="5" name="table-column-2">
            <a:extLst>
              <a:ext uri="{FF2B5EF4-FFF2-40B4-BE49-F238E27FC236}">
                <a16:creationId xmlns:a16="http://schemas.microsoft.com/office/drawing/2014/main" id="{1B8DF25E-390F-46F9-B3E6-716A8F19EF8F}"/>
              </a:ext>
            </a:extLst>
          </p:cNvPr>
          <p:cNvSpPr>
            <a:spLocks noGrp="1"/>
          </p:cNvSpPr>
          <p:nvPr/>
        </p:nvSpPr>
        <p:spPr>
          <a:xfrm rot="0">
            <a:off x="2291874" y="561975"/>
            <a:ext cx="40957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5A6775"/>
                </a:solidFill>
                <a:latin typeface="Times New Roman"/>
                <a:ea typeface="Times New Roman"/>
              </a:defRPr>
            </a:pP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x</m:t>
                    </m:r>
                  </m:e>
                  <m:sub>
                    <m:r>
                      <m:rPr>
                        <m:sty m:val="p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2</m:t>
                    </m:r>
                  </m:sub>
                </m:sSub>
              </m:oMath>
            </a14:m>
            <a:endParaRPr lang="en-US" sz="2372"/>
          </a:p>
        </p:txBody>
      </p:sp>
      <p:sp>
        <p:nvSpPr>
          <p:cNvPr id="6" name="table-column-3">
            <a:extLst>
              <a:ext uri="{FF2B5EF4-FFF2-40B4-BE49-F238E27FC236}">
                <a16:creationId xmlns:a16="http://schemas.microsoft.com/office/drawing/2014/main" id="{9F672811-6B64-4F39-94C4-D85D41A6AB87}"/>
              </a:ext>
            </a:extLst>
          </p:cNvPr>
          <p:cNvSpPr>
            <a:spLocks noGrp="1"/>
          </p:cNvSpPr>
          <p:nvPr/>
        </p:nvSpPr>
        <p:spPr>
          <a:xfrm rot="0">
            <a:off x="2710974" y="561975"/>
            <a:ext cx="40957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5A6775"/>
                </a:solidFill>
                <a:latin typeface="Times New Roman"/>
                <a:ea typeface="Times New Roman"/>
              </a:defRPr>
            </a:pP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x</m:t>
                    </m:r>
                  </m:e>
                  <m:sub>
                    <m:r>
                      <m:rPr>
                        <m:sty m:val="p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3</m:t>
                    </m:r>
                  </m:sub>
                </m:sSub>
              </m:oMath>
            </a14:m>
            <a:endParaRPr lang="en-US" sz="2372"/>
          </a:p>
        </p:txBody>
      </p:sp>
      <p:sp>
        <p:nvSpPr>
          <p:cNvPr id="7" name="table-column-4">
            <a:extLst>
              <a:ext uri="{FF2B5EF4-FFF2-40B4-BE49-F238E27FC236}">
                <a16:creationId xmlns:a16="http://schemas.microsoft.com/office/drawing/2014/main" id="{E96BEE44-A2B1-447B-9D4E-B8029B7403A3}"/>
              </a:ext>
            </a:extLst>
          </p:cNvPr>
          <p:cNvSpPr>
            <a:spLocks noGrp="1"/>
          </p:cNvSpPr>
          <p:nvPr/>
        </p:nvSpPr>
        <p:spPr>
          <a:xfrm rot="0">
            <a:off x="3130074" y="561975"/>
            <a:ext cx="40957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5A6775"/>
                </a:solidFill>
                <a:latin typeface="Times New Roman"/>
                <a:ea typeface="Times New Roman"/>
              </a:defRPr>
            </a:pP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x</m:t>
                    </m:r>
                  </m:e>
                  <m:sub>
                    <m:r>
                      <m:rPr>
                        <m:sty m:val="p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4</m:t>
                    </m:r>
                  </m:sub>
                </m:sSub>
              </m:oMath>
            </a14:m>
            <a:endParaRPr lang="en-US" sz="2372"/>
          </a:p>
        </p:txBody>
      </p:sp>
      <p:sp>
        <p:nvSpPr>
          <p:cNvPr id="8" name="table-column-5">
            <a:extLst>
              <a:ext uri="{FF2B5EF4-FFF2-40B4-BE49-F238E27FC236}">
                <a16:creationId xmlns:a16="http://schemas.microsoft.com/office/drawing/2014/main" id="{2C66D7CA-3FDC-4D22-B4AA-EF2E1DDA99AA}"/>
              </a:ext>
            </a:extLst>
          </p:cNvPr>
          <p:cNvSpPr>
            <a:spLocks noGrp="1"/>
          </p:cNvSpPr>
          <p:nvPr/>
        </p:nvSpPr>
        <p:spPr>
          <a:xfrm rot="0">
            <a:off x="3549174" y="561975"/>
            <a:ext cx="40957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5A6775"/>
                </a:solidFill>
                <a:latin typeface="Times New Roman"/>
                <a:ea typeface="Times New Roman"/>
              </a:defRPr>
            </a:pP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x</m:t>
                    </m:r>
                  </m:e>
                  <m:sub>
                    <m:r>
                      <m:rPr>
                        <m:sty m:val="p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5</m:t>
                    </m:r>
                  </m:sub>
                </m:sSub>
              </m:oMath>
            </a14:m>
            <a:endParaRPr lang="en-US" sz="2372"/>
          </a:p>
        </p:txBody>
      </p:sp>
      <p:sp>
        <p:nvSpPr>
          <p:cNvPr id="9" name="table-column-6">
            <a:extLst>
              <a:ext uri="{FF2B5EF4-FFF2-40B4-BE49-F238E27FC236}">
                <a16:creationId xmlns:a16="http://schemas.microsoft.com/office/drawing/2014/main" id="{8F945404-2FC4-4B0A-BA67-0C8AE9E9EA4F}"/>
              </a:ext>
            </a:extLst>
          </p:cNvPr>
          <p:cNvSpPr>
            <a:spLocks noGrp="1"/>
          </p:cNvSpPr>
          <p:nvPr/>
        </p:nvSpPr>
        <p:spPr>
          <a:xfrm rot="0">
            <a:off x="3968274" y="561975"/>
            <a:ext cx="40957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5A6775"/>
                </a:solidFill>
                <a:latin typeface="Times New Roman"/>
                <a:ea typeface="Times New Roman"/>
              </a:defRPr>
            </a:pP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x</m:t>
                    </m:r>
                  </m:e>
                  <m:sub>
                    <m:r>
                      <m:rPr>
                        <m:sty m:val="p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6</m:t>
                    </m:r>
                  </m:sub>
                </m:sSub>
              </m:oMath>
            </a14:m>
            <a:endParaRPr lang="en-US" sz="2372"/>
          </a:p>
        </p:txBody>
      </p:sp>
      <p:sp>
        <p:nvSpPr>
          <p:cNvPr id="10" name="table-header-continuation">
            <a:extLst>
              <a:ext uri="{FF2B5EF4-FFF2-40B4-BE49-F238E27FC236}">
                <a16:creationId xmlns:a16="http://schemas.microsoft.com/office/drawing/2014/main" id="{36DFA8D4-56A2-44B2-84EB-5CAC086DAD37}"/>
              </a:ext>
            </a:extLst>
          </p:cNvPr>
          <p:cNvSpPr>
            <a:spLocks noGrp="1"/>
          </p:cNvSpPr>
          <p:nvPr/>
        </p:nvSpPr>
        <p:spPr>
          <a:xfrm rot="0">
            <a:off x="4325461" y="581025"/>
            <a:ext cx="381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5A6775"/>
                </a:solidFill>
                <a:latin typeface="Times New Roman"/>
                <a:ea typeface="Times New Roman"/>
              </a:defRPr>
            </a:pPr>
            <a14:m>
              <m:oMath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⋯</m:t>
                </m:r>
              </m:oMath>
            </a14:m>
            <a:endParaRPr lang="en-US" sz="2372"/>
          </a:p>
        </p:txBody>
      </p:sp>
      <p:sp>
        <p:nvSpPr>
          <p:cNvPr id="11" name="table-row-0">
            <a:extLst>
              <a:ext uri="{FF2B5EF4-FFF2-40B4-BE49-F238E27FC236}">
                <a16:creationId xmlns:a16="http://schemas.microsoft.com/office/drawing/2014/main" id="{D3DFCA1E-AE53-4F23-9F9A-501F32B16974}"/>
              </a:ext>
            </a:extLst>
          </p:cNvPr>
          <p:cNvSpPr>
            <a:spLocks noGrp="1"/>
          </p:cNvSpPr>
          <p:nvPr/>
        </p:nvSpPr>
        <p:spPr>
          <a:xfrm rot="0">
            <a:off x="496411" y="904875"/>
            <a:ext cx="1143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 fontAlgn="base">
              <a:defRPr sz="2372" lang="en-US" b="0" i="0" dirty="0">
                <a:solidFill>
                  <a:srgbClr val="1B2733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5A6775"/>
                </a:solidFill>
                <a:latin typeface="Times New Roman"/>
                <a:ea typeface="Times New Roman"/>
              </a:rPr>
              <a:t xml:space="preserve">Seed </a:t>
            </a: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1B2733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1B2733"/>
                        </a:solidFill>
                        <a:latin typeface="Cambria Math"/>
                        <a:ea typeface="Cambria Math"/>
                      </a:rPr>
                      <m:t xml:space="preserve">p</m:t>
                    </m:r>
                  </m:e>
                  <m:sub>
                    <m:r>
                      <m:rPr>
                        <m:sty m:val="p"/>
                      </m:rPr>
                      <a:rPr sz="2372" lang="en-US" b="0" i="0" dirty="0">
                        <a:solidFill>
                          <a:srgbClr val="1B2733"/>
                        </a:solidFill>
                        <a:latin typeface="Cambria Math"/>
                        <a:ea typeface="Cambria Math"/>
                      </a:rPr>
                      <m:t xml:space="preserve">0</m:t>
                    </m:r>
                  </m:sub>
                </m:sSub>
              </m:oMath>
            </a14:m>
            <a:endParaRPr lang="en-US" sz="2372"/>
          </a:p>
        </p:txBody>
      </p:sp>
      <p:sp>
        <p:nvSpPr>
          <p:cNvPr id="12" name="table-row-continuation-0">
            <a:extLst>
              <a:ext uri="{FF2B5EF4-FFF2-40B4-BE49-F238E27FC236}">
                <a16:creationId xmlns:a16="http://schemas.microsoft.com/office/drawing/2014/main" id="{4E81D240-BA2F-4C48-9FD8-341587312648}"/>
              </a:ext>
            </a:extLst>
          </p:cNvPr>
          <p:cNvSpPr>
            <a:spLocks noGrp="1"/>
          </p:cNvSpPr>
          <p:nvPr/>
        </p:nvSpPr>
        <p:spPr>
          <a:xfrm rot="0">
            <a:off x="4325461" y="923925"/>
            <a:ext cx="381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5A6775"/>
                </a:solidFill>
                <a:latin typeface="Times New Roman"/>
                <a:ea typeface="Times New Roman"/>
              </a:defRPr>
            </a:pPr>
            <a14:m>
              <m:oMath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⋯</m:t>
                </m:r>
              </m:oMath>
            </a14:m>
            <a:endParaRPr lang="en-US" sz="2372"/>
          </a:p>
        </p:txBody>
      </p:sp>
      <p:sp>
        <p:nvSpPr>
          <p:cNvPr id="13" name="table-row-1">
            <a:extLst>
              <a:ext uri="{FF2B5EF4-FFF2-40B4-BE49-F238E27FC236}">
                <a16:creationId xmlns:a16="http://schemas.microsoft.com/office/drawing/2014/main" id="{286A6117-1F1E-4289-A405-AAC7BA239398}"/>
              </a:ext>
            </a:extLst>
          </p:cNvPr>
          <p:cNvSpPr>
            <a:spLocks noGrp="1"/>
          </p:cNvSpPr>
          <p:nvPr/>
        </p:nvSpPr>
        <p:spPr>
          <a:xfrm rot="0">
            <a:off x="496411" y="1247775"/>
            <a:ext cx="1143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 fontAlgn="base">
              <a:defRPr sz="2372" lang="en-US" b="0" i="0" dirty="0">
                <a:solidFill>
                  <a:srgbClr val="1B2733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5A6775"/>
                </a:solidFill>
                <a:latin typeface="Times New Roman"/>
                <a:ea typeface="Times New Roman"/>
              </a:rPr>
              <a:t xml:space="preserve">Parent </a:t>
            </a:r>
            <a14:m>
              <m:oMath>
                <m:r>
                  <m:rPr>
                    <m:sty m:val="i"/>
                  </m:rPr>
                  <a:rPr sz="2372" lang="en-US" b="0" i="0" dirty="0">
                    <a:solidFill>
                      <a:srgbClr val="1B2733"/>
                    </a:solidFill>
                    <a:latin typeface="Cambria Math"/>
                    <a:ea typeface="Cambria Math"/>
                  </a:rPr>
                  <m:t xml:space="preserve">s</m:t>
                </m:r>
              </m:oMath>
            </a14:m>
            <a:endParaRPr lang="en-US" sz="2372"/>
          </a:p>
        </p:txBody>
      </p:sp>
      <p:sp>
        <p:nvSpPr>
          <p:cNvPr id="14" name="table-row-continuation-1">
            <a:extLst>
              <a:ext uri="{FF2B5EF4-FFF2-40B4-BE49-F238E27FC236}">
                <a16:creationId xmlns:a16="http://schemas.microsoft.com/office/drawing/2014/main" id="{A66A4868-760A-4F1C-934C-35DE5B54298E}"/>
              </a:ext>
            </a:extLst>
          </p:cNvPr>
          <p:cNvSpPr>
            <a:spLocks noGrp="1"/>
          </p:cNvSpPr>
          <p:nvPr/>
        </p:nvSpPr>
        <p:spPr>
          <a:xfrm rot="0">
            <a:off x="4325461" y="1266825"/>
            <a:ext cx="381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5A6775"/>
                </a:solidFill>
                <a:latin typeface="Times New Roman"/>
                <a:ea typeface="Times New Roman"/>
              </a:defRPr>
            </a:pPr>
            <a14:m>
              <m:oMath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⋯</m:t>
                </m:r>
              </m:oMath>
            </a14:m>
            <a:endParaRPr lang="en-US" sz="2372"/>
          </a:p>
        </p:txBody>
      </p:sp>
      <p:sp>
        <p:nvSpPr>
          <p:cNvPr id="15" name="table-row-2">
            <a:extLst>
              <a:ext uri="{FF2B5EF4-FFF2-40B4-BE49-F238E27FC236}">
                <a16:creationId xmlns:a16="http://schemas.microsoft.com/office/drawing/2014/main" id="{147FD477-3C8C-46B8-9C13-FAD44974A1B7}"/>
              </a:ext>
            </a:extLst>
          </p:cNvPr>
          <p:cNvSpPr>
            <a:spLocks noGrp="1"/>
          </p:cNvSpPr>
          <p:nvPr/>
        </p:nvSpPr>
        <p:spPr>
          <a:xfrm rot="0">
            <a:off x="496411" y="1590675"/>
            <a:ext cx="1143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 fontAlgn="base">
              <a:defRPr sz="2372" lang="en-US" b="0" i="0" dirty="0">
                <a:solidFill>
                  <a:srgbClr val="1B2733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5A6775"/>
                </a:solidFill>
                <a:latin typeface="Times New Roman"/>
                <a:ea typeface="Times New Roman"/>
              </a:rPr>
              <a:t xml:space="preserve">Child </a:t>
            </a:r>
            <a14:m>
              <m:oMath>
                <m:r>
                  <m:rPr>
                    <m:sty m:val="i"/>
                  </m:rPr>
                  <a:rPr sz="2372" lang="en-US" b="0" i="0" dirty="0">
                    <a:solidFill>
                      <a:srgbClr val="1B2733"/>
                    </a:solidFill>
                    <a:latin typeface="Cambria Math"/>
                    <a:ea typeface="Cambria Math"/>
                  </a:rPr>
                  <m:t xml:space="preserve">p</m:t>
                </m:r>
              </m:oMath>
            </a14:m>
            <a:endParaRPr lang="en-US" sz="2372"/>
          </a:p>
        </p:txBody>
      </p:sp>
      <p:sp>
        <p:nvSpPr>
          <p:cNvPr id="16" name="table-row-continuation-2">
            <a:extLst>
              <a:ext uri="{FF2B5EF4-FFF2-40B4-BE49-F238E27FC236}">
                <a16:creationId xmlns:a16="http://schemas.microsoft.com/office/drawing/2014/main" id="{F361DFF8-CE6D-4186-9A31-B27055737461}"/>
              </a:ext>
            </a:extLst>
          </p:cNvPr>
          <p:cNvSpPr>
            <a:spLocks noGrp="1"/>
          </p:cNvSpPr>
          <p:nvPr/>
        </p:nvSpPr>
        <p:spPr>
          <a:xfrm rot="0">
            <a:off x="4325461" y="1609725"/>
            <a:ext cx="381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5A6775"/>
                </a:solidFill>
                <a:latin typeface="Times New Roman"/>
                <a:ea typeface="Times New Roman"/>
              </a:defRPr>
            </a:pPr>
            <a14:m>
              <m:oMath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⋯</m:t>
                </m:r>
              </m:oMath>
            </a14:m>
            <a:endParaRPr lang="en-US" sz="2372"/>
          </a:p>
        </p:txBody>
      </p:sp>
      <p:sp>
        <p:nvSpPr>
          <p:cNvPr id="17" name="score-r0-c0">
            <a:extLst>
              <a:ext uri="{FF2B5EF4-FFF2-40B4-BE49-F238E27FC236}">
                <a16:creationId xmlns:a16="http://schemas.microsoft.com/office/drawing/2014/main" id="{A0F7FA5F-B125-438E-9F6D-3A70698F155D}"/>
              </a:ext>
            </a:extLst>
          </p:cNvPr>
          <p:cNvSpPr>
            <a:spLocks noGrp="1"/>
          </p:cNvSpPr>
          <p:nvPr/>
        </p:nvSpPr>
        <p:spPr>
          <a:xfrm>
            <a:off x="1877536" y="923925"/>
            <a:ext cx="400050" cy="323850"/>
          </a:xfrm>
          <a:prstGeom prst="rect">
            <a:avLst/>
          </a:prstGeom>
          <a:solidFill>
            <a:srgbClr val="EBF0F6"/>
          </a:solidFill>
          <a:ln w="16738">
            <a:solidFill>
              <a:srgbClr val="B4BEC8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1B2733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1B2733"/>
                </a:solidFill>
                <a:latin typeface="Times New Roman"/>
                <a:ea typeface="Times New Roman"/>
              </a:rPr>
              <a:t xml:space="preserve">0</a:t>
            </a:r>
            <a:endParaRPr lang="en-US" sz="2372"/>
          </a:p>
        </p:txBody>
      </p:sp>
      <p:sp>
        <p:nvSpPr>
          <p:cNvPr id="18" name="score-r0-c1">
            <a:extLst>
              <a:ext uri="{FF2B5EF4-FFF2-40B4-BE49-F238E27FC236}">
                <a16:creationId xmlns:a16="http://schemas.microsoft.com/office/drawing/2014/main" id="{6FD643F6-C3DB-4EF3-99B3-1EF13592A13D}"/>
              </a:ext>
            </a:extLst>
          </p:cNvPr>
          <p:cNvSpPr>
            <a:spLocks noGrp="1"/>
          </p:cNvSpPr>
          <p:nvPr/>
        </p:nvSpPr>
        <p:spPr>
          <a:xfrm>
            <a:off x="2296636" y="923925"/>
            <a:ext cx="400050" cy="323850"/>
          </a:xfrm>
          <a:prstGeom prst="rect">
            <a:avLst/>
          </a:prstGeom>
          <a:solidFill>
            <a:srgbClr val="FFFFFF"/>
          </a:solidFill>
          <a:ln w="16738">
            <a:solidFill>
              <a:srgbClr val="B4BEC8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5A6775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5A6775"/>
                </a:solidFill>
                <a:latin typeface="Times New Roman"/>
                <a:ea typeface="Times New Roman"/>
              </a:rPr>
              <a:t xml:space="preserve">–</a:t>
            </a:r>
            <a:endParaRPr lang="en-US" sz="2372"/>
          </a:p>
        </p:txBody>
      </p:sp>
      <p:sp>
        <p:nvSpPr>
          <p:cNvPr id="19" name="score-r0-c2">
            <a:extLst>
              <a:ext uri="{FF2B5EF4-FFF2-40B4-BE49-F238E27FC236}">
                <a16:creationId xmlns:a16="http://schemas.microsoft.com/office/drawing/2014/main" id="{2336C6FC-1746-47FE-BAD0-26D7137E6491}"/>
              </a:ext>
            </a:extLst>
          </p:cNvPr>
          <p:cNvSpPr>
            <a:spLocks noGrp="1"/>
          </p:cNvSpPr>
          <p:nvPr/>
        </p:nvSpPr>
        <p:spPr>
          <a:xfrm>
            <a:off x="2715736" y="923925"/>
            <a:ext cx="400050" cy="323850"/>
          </a:xfrm>
          <a:prstGeom prst="rect">
            <a:avLst/>
          </a:prstGeom>
          <a:solidFill>
            <a:srgbClr val="EBF0F6"/>
          </a:solidFill>
          <a:ln w="16738">
            <a:solidFill>
              <a:srgbClr val="B4BEC8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1B2733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1B2733"/>
                </a:solidFill>
                <a:latin typeface="Times New Roman"/>
                <a:ea typeface="Times New Roman"/>
              </a:rPr>
              <a:t xml:space="preserve">1</a:t>
            </a:r>
            <a:endParaRPr lang="en-US" sz="2372"/>
          </a:p>
        </p:txBody>
      </p:sp>
      <p:sp>
        <p:nvSpPr>
          <p:cNvPr id="20" name="score-r0-c3">
            <a:extLst>
              <a:ext uri="{FF2B5EF4-FFF2-40B4-BE49-F238E27FC236}">
                <a16:creationId xmlns:a16="http://schemas.microsoft.com/office/drawing/2014/main" id="{E1A7732E-9D88-4CE6-94F7-126942EBBCAB}"/>
              </a:ext>
            </a:extLst>
          </p:cNvPr>
          <p:cNvSpPr>
            <a:spLocks noGrp="1"/>
          </p:cNvSpPr>
          <p:nvPr/>
        </p:nvSpPr>
        <p:spPr>
          <a:xfrm>
            <a:off x="3134836" y="923925"/>
            <a:ext cx="400050" cy="323850"/>
          </a:xfrm>
          <a:prstGeom prst="rect">
            <a:avLst/>
          </a:prstGeom>
          <a:solidFill>
            <a:srgbClr val="EBF0F6"/>
          </a:solidFill>
          <a:ln w="16738">
            <a:solidFill>
              <a:srgbClr val="B4BEC8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1B2733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1B2733"/>
                </a:solidFill>
                <a:latin typeface="Times New Roman"/>
                <a:ea typeface="Times New Roman"/>
              </a:rPr>
              <a:t xml:space="preserve">0</a:t>
            </a:r>
            <a:endParaRPr lang="en-US" sz="2372"/>
          </a:p>
        </p:txBody>
      </p:sp>
      <p:sp>
        <p:nvSpPr>
          <p:cNvPr id="21" name="score-r0-c4">
            <a:extLst>
              <a:ext uri="{FF2B5EF4-FFF2-40B4-BE49-F238E27FC236}">
                <a16:creationId xmlns:a16="http://schemas.microsoft.com/office/drawing/2014/main" id="{682CA6B3-82AB-4D71-B4ED-3E6F613D632B}"/>
              </a:ext>
            </a:extLst>
          </p:cNvPr>
          <p:cNvSpPr>
            <a:spLocks noGrp="1"/>
          </p:cNvSpPr>
          <p:nvPr/>
        </p:nvSpPr>
        <p:spPr>
          <a:xfrm>
            <a:off x="3553936" y="923925"/>
            <a:ext cx="400050" cy="323850"/>
          </a:xfrm>
          <a:prstGeom prst="rect">
            <a:avLst/>
          </a:prstGeom>
          <a:solidFill>
            <a:srgbClr val="EBF0F6"/>
          </a:solidFill>
          <a:ln w="16738">
            <a:solidFill>
              <a:srgbClr val="B4BEC8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1B2733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1B2733"/>
                </a:solidFill>
                <a:latin typeface="Times New Roman"/>
                <a:ea typeface="Times New Roman"/>
              </a:rPr>
              <a:t xml:space="preserve">0</a:t>
            </a:r>
            <a:endParaRPr lang="en-US" sz="2372"/>
          </a:p>
        </p:txBody>
      </p:sp>
      <p:sp>
        <p:nvSpPr>
          <p:cNvPr id="22" name="score-r0-c5">
            <a:extLst>
              <a:ext uri="{FF2B5EF4-FFF2-40B4-BE49-F238E27FC236}">
                <a16:creationId xmlns:a16="http://schemas.microsoft.com/office/drawing/2014/main" id="{B3DE04FE-7168-4E4B-920A-338F99069507}"/>
              </a:ext>
            </a:extLst>
          </p:cNvPr>
          <p:cNvSpPr>
            <a:spLocks noGrp="1"/>
          </p:cNvSpPr>
          <p:nvPr/>
        </p:nvSpPr>
        <p:spPr>
          <a:xfrm>
            <a:off x="3973036" y="923925"/>
            <a:ext cx="400050" cy="323850"/>
          </a:xfrm>
          <a:prstGeom prst="rect">
            <a:avLst/>
          </a:prstGeom>
          <a:solidFill>
            <a:srgbClr val="EBF0F6"/>
          </a:solidFill>
          <a:ln w="16738">
            <a:solidFill>
              <a:srgbClr val="B4BEC8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1B2733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1B2733"/>
                </a:solidFill>
                <a:latin typeface="Times New Roman"/>
                <a:ea typeface="Times New Roman"/>
              </a:rPr>
              <a:t xml:space="preserve">0</a:t>
            </a:r>
            <a:endParaRPr lang="en-US" sz="2372"/>
          </a:p>
        </p:txBody>
      </p:sp>
      <p:sp>
        <p:nvSpPr>
          <p:cNvPr id="23" name="score-r1-c0">
            <a:extLst>
              <a:ext uri="{FF2B5EF4-FFF2-40B4-BE49-F238E27FC236}">
                <a16:creationId xmlns:a16="http://schemas.microsoft.com/office/drawing/2014/main" id="{760F9422-1191-47B9-A6D6-E51C27082197}"/>
              </a:ext>
            </a:extLst>
          </p:cNvPr>
          <p:cNvSpPr>
            <a:spLocks noGrp="1"/>
          </p:cNvSpPr>
          <p:nvPr/>
        </p:nvSpPr>
        <p:spPr>
          <a:xfrm>
            <a:off x="1877536" y="1266825"/>
            <a:ext cx="400050" cy="323850"/>
          </a:xfrm>
          <a:prstGeom prst="rect">
            <a:avLst/>
          </a:prstGeom>
          <a:solidFill>
            <a:srgbClr val="EBF0F6"/>
          </a:solidFill>
          <a:ln w="30129">
            <a:solidFill>
              <a:srgbClr val="B0761A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1B2733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1B2733"/>
                </a:solidFill>
                <a:latin typeface="Times New Roman"/>
                <a:ea typeface="Times New Roman"/>
              </a:rPr>
              <a:t xml:space="preserve">1</a:t>
            </a:r>
            <a:endParaRPr lang="en-US" sz="2372"/>
          </a:p>
        </p:txBody>
      </p:sp>
      <p:sp>
        <p:nvSpPr>
          <p:cNvPr id="24" name="score-r1-c1">
            <a:extLst>
              <a:ext uri="{FF2B5EF4-FFF2-40B4-BE49-F238E27FC236}">
                <a16:creationId xmlns:a16="http://schemas.microsoft.com/office/drawing/2014/main" id="{B6A682C0-5776-4C69-B083-3F2EA41CE1D2}"/>
              </a:ext>
            </a:extLst>
          </p:cNvPr>
          <p:cNvSpPr>
            <a:spLocks noGrp="1"/>
          </p:cNvSpPr>
          <p:nvPr/>
        </p:nvSpPr>
        <p:spPr>
          <a:xfrm>
            <a:off x="2296636" y="1266825"/>
            <a:ext cx="400050" cy="323850"/>
          </a:xfrm>
          <a:prstGeom prst="rect">
            <a:avLst/>
          </a:prstGeom>
          <a:solidFill>
            <a:srgbClr val="EBF0F6"/>
          </a:solidFill>
          <a:ln w="30129">
            <a:solidFill>
              <a:srgbClr val="B0761A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1B2733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1B2733"/>
                </a:solidFill>
                <a:latin typeface="Times New Roman"/>
                <a:ea typeface="Times New Roman"/>
              </a:rPr>
              <a:t xml:space="preserve">0</a:t>
            </a:r>
            <a:endParaRPr lang="en-US" sz="2372"/>
          </a:p>
        </p:txBody>
      </p:sp>
      <p:sp>
        <p:nvSpPr>
          <p:cNvPr id="25" name="score-r1-c2">
            <a:extLst>
              <a:ext uri="{FF2B5EF4-FFF2-40B4-BE49-F238E27FC236}">
                <a16:creationId xmlns:a16="http://schemas.microsoft.com/office/drawing/2014/main" id="{35B01151-CC1F-422C-8822-E139B4ABE86A}"/>
              </a:ext>
            </a:extLst>
          </p:cNvPr>
          <p:cNvSpPr>
            <a:spLocks noGrp="1"/>
          </p:cNvSpPr>
          <p:nvPr/>
        </p:nvSpPr>
        <p:spPr>
          <a:xfrm>
            <a:off x="2715736" y="1266825"/>
            <a:ext cx="400050" cy="323850"/>
          </a:xfrm>
          <a:prstGeom prst="rect">
            <a:avLst/>
          </a:prstGeom>
          <a:pattFill prst="upDiag">
            <a:fgClr>
              <a:srgbClr val="D9948F"/>
            </a:fgClr>
            <a:bgClr>
              <a:srgbClr val="FFFFFF"/>
            </a:bgClr>
          </a:pattFill>
          <a:ln w="23434">
            <a:solidFill>
              <a:srgbClr val="A3322C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A3322C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A3322C"/>
                </a:solidFill>
                <a:latin typeface="Times New Roman"/>
                <a:ea typeface="Times New Roman"/>
              </a:rPr>
              <a:t xml:space="preserve">1</a:t>
            </a:r>
            <a:endParaRPr lang="en-US" sz="2372"/>
          </a:p>
        </p:txBody>
      </p:sp>
      <p:sp>
        <p:nvSpPr>
          <p:cNvPr id="26" name="score-r1-c3">
            <a:extLst>
              <a:ext uri="{FF2B5EF4-FFF2-40B4-BE49-F238E27FC236}">
                <a16:creationId xmlns:a16="http://schemas.microsoft.com/office/drawing/2014/main" id="{DDEF565B-E39C-4E2F-AF68-03CC44F442F6}"/>
              </a:ext>
            </a:extLst>
          </p:cNvPr>
          <p:cNvSpPr>
            <a:spLocks noGrp="1"/>
          </p:cNvSpPr>
          <p:nvPr/>
        </p:nvSpPr>
        <p:spPr>
          <a:xfrm>
            <a:off x="3134836" y="1266825"/>
            <a:ext cx="400050" cy="323850"/>
          </a:xfrm>
          <a:prstGeom prst="rect">
            <a:avLst/>
          </a:prstGeom>
          <a:solidFill>
            <a:srgbClr val="FFFFFF"/>
          </a:solidFill>
          <a:ln w="16738">
            <a:solidFill>
              <a:srgbClr val="B4BEC8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5A6775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5A6775"/>
                </a:solidFill>
                <a:latin typeface="Times New Roman"/>
                <a:ea typeface="Times New Roman"/>
              </a:rPr>
              <a:t xml:space="preserve">–</a:t>
            </a:r>
            <a:endParaRPr lang="en-US" sz="2372"/>
          </a:p>
        </p:txBody>
      </p:sp>
      <p:sp>
        <p:nvSpPr>
          <p:cNvPr id="27" name="score-r1-c4">
            <a:extLst>
              <a:ext uri="{FF2B5EF4-FFF2-40B4-BE49-F238E27FC236}">
                <a16:creationId xmlns:a16="http://schemas.microsoft.com/office/drawing/2014/main" id="{00637339-EA09-4CA4-950C-18209EA31F87}"/>
              </a:ext>
            </a:extLst>
          </p:cNvPr>
          <p:cNvSpPr>
            <a:spLocks noGrp="1"/>
          </p:cNvSpPr>
          <p:nvPr/>
        </p:nvSpPr>
        <p:spPr>
          <a:xfrm>
            <a:off x="3553936" y="1266825"/>
            <a:ext cx="400050" cy="323850"/>
          </a:xfrm>
          <a:prstGeom prst="rect">
            <a:avLst/>
          </a:prstGeom>
          <a:solidFill>
            <a:srgbClr val="EBF0F6"/>
          </a:solidFill>
          <a:ln w="30129">
            <a:solidFill>
              <a:srgbClr val="B0761A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1B2733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1B2733"/>
                </a:solidFill>
                <a:latin typeface="Times New Roman"/>
                <a:ea typeface="Times New Roman"/>
              </a:rPr>
              <a:t xml:space="preserve">1</a:t>
            </a:r>
            <a:endParaRPr lang="en-US" sz="2372"/>
          </a:p>
        </p:txBody>
      </p:sp>
      <p:sp>
        <p:nvSpPr>
          <p:cNvPr id="28" name="score-r1-c5">
            <a:extLst>
              <a:ext uri="{FF2B5EF4-FFF2-40B4-BE49-F238E27FC236}">
                <a16:creationId xmlns:a16="http://schemas.microsoft.com/office/drawing/2014/main" id="{635677A1-8012-4A53-8DB0-EB9B1515B37A}"/>
              </a:ext>
            </a:extLst>
          </p:cNvPr>
          <p:cNvSpPr>
            <a:spLocks noGrp="1"/>
          </p:cNvSpPr>
          <p:nvPr/>
        </p:nvSpPr>
        <p:spPr>
          <a:xfrm>
            <a:off x="3973036" y="1266825"/>
            <a:ext cx="400050" cy="323850"/>
          </a:xfrm>
          <a:prstGeom prst="rect">
            <a:avLst/>
          </a:prstGeom>
          <a:solidFill>
            <a:srgbClr val="EBF0F6"/>
          </a:solidFill>
          <a:ln w="30129">
            <a:solidFill>
              <a:srgbClr val="B0761A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1B2733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1B2733"/>
                </a:solidFill>
                <a:latin typeface="Times New Roman"/>
                <a:ea typeface="Times New Roman"/>
              </a:rPr>
              <a:t xml:space="preserve">0</a:t>
            </a:r>
            <a:endParaRPr lang="en-US" sz="2372"/>
          </a:p>
        </p:txBody>
      </p:sp>
      <p:sp>
        <p:nvSpPr>
          <p:cNvPr id="29" name="score-r2-c0">
            <a:extLst>
              <a:ext uri="{FF2B5EF4-FFF2-40B4-BE49-F238E27FC236}">
                <a16:creationId xmlns:a16="http://schemas.microsoft.com/office/drawing/2014/main" id="{D1498B59-489C-41D1-A391-2CD7C6CF81AC}"/>
              </a:ext>
            </a:extLst>
          </p:cNvPr>
          <p:cNvSpPr>
            <a:spLocks noGrp="1"/>
          </p:cNvSpPr>
          <p:nvPr/>
        </p:nvSpPr>
        <p:spPr>
          <a:xfrm>
            <a:off x="1877536" y="1609725"/>
            <a:ext cx="400050" cy="323850"/>
          </a:xfrm>
          <a:prstGeom prst="rect">
            <a:avLst/>
          </a:prstGeom>
          <a:solidFill>
            <a:srgbClr val="FFFFFF"/>
          </a:solidFill>
          <a:ln w="16738">
            <a:solidFill>
              <a:srgbClr val="B4BEC8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5A6775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5A6775"/>
                </a:solidFill>
                <a:latin typeface="Times New Roman"/>
                <a:ea typeface="Times New Roman"/>
              </a:rPr>
              <a:t xml:space="preserve">–</a:t>
            </a:r>
            <a:endParaRPr lang="en-US" sz="2372"/>
          </a:p>
        </p:txBody>
      </p:sp>
      <p:sp>
        <p:nvSpPr>
          <p:cNvPr id="30" name="score-r2-c1">
            <a:extLst>
              <a:ext uri="{FF2B5EF4-FFF2-40B4-BE49-F238E27FC236}">
                <a16:creationId xmlns:a16="http://schemas.microsoft.com/office/drawing/2014/main" id="{53EE280D-F2A9-43B4-9C17-0ED68D8BC03B}"/>
              </a:ext>
            </a:extLst>
          </p:cNvPr>
          <p:cNvSpPr>
            <a:spLocks noGrp="1"/>
          </p:cNvSpPr>
          <p:nvPr/>
        </p:nvSpPr>
        <p:spPr>
          <a:xfrm>
            <a:off x="2296636" y="1609725"/>
            <a:ext cx="400050" cy="323850"/>
          </a:xfrm>
          <a:prstGeom prst="rect">
            <a:avLst/>
          </a:prstGeom>
          <a:solidFill>
            <a:srgbClr val="FFFFFF"/>
          </a:solidFill>
          <a:ln w="16738">
            <a:solidFill>
              <a:srgbClr val="B4BEC8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5A6775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5A6775"/>
                </a:solidFill>
                <a:latin typeface="Times New Roman"/>
                <a:ea typeface="Times New Roman"/>
              </a:rPr>
              <a:t xml:space="preserve">–</a:t>
            </a:r>
            <a:endParaRPr lang="en-US" sz="2372"/>
          </a:p>
        </p:txBody>
      </p:sp>
      <p:sp>
        <p:nvSpPr>
          <p:cNvPr id="31" name="score-r2-c2">
            <a:extLst>
              <a:ext uri="{FF2B5EF4-FFF2-40B4-BE49-F238E27FC236}">
                <a16:creationId xmlns:a16="http://schemas.microsoft.com/office/drawing/2014/main" id="{41BE12C6-A0F5-427A-A419-6E00F9ECC241}"/>
              </a:ext>
            </a:extLst>
          </p:cNvPr>
          <p:cNvSpPr>
            <a:spLocks noGrp="1"/>
          </p:cNvSpPr>
          <p:nvPr/>
        </p:nvSpPr>
        <p:spPr>
          <a:xfrm>
            <a:off x="2715736" y="1609725"/>
            <a:ext cx="400050" cy="323850"/>
          </a:xfrm>
          <a:prstGeom prst="rect">
            <a:avLst/>
          </a:prstGeom>
          <a:solidFill>
            <a:srgbClr val="FFFFFF"/>
          </a:solidFill>
          <a:ln w="16738">
            <a:solidFill>
              <a:srgbClr val="B4BEC8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5A6775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5A6775"/>
                </a:solidFill>
                <a:latin typeface="Times New Roman"/>
                <a:ea typeface="Times New Roman"/>
              </a:rPr>
              <a:t xml:space="preserve">–</a:t>
            </a:r>
            <a:endParaRPr lang="en-US" sz="2372"/>
          </a:p>
        </p:txBody>
      </p:sp>
      <p:sp>
        <p:nvSpPr>
          <p:cNvPr id="32" name="score-r2-c3">
            <a:extLst>
              <a:ext uri="{FF2B5EF4-FFF2-40B4-BE49-F238E27FC236}">
                <a16:creationId xmlns:a16="http://schemas.microsoft.com/office/drawing/2014/main" id="{E683D290-919C-4237-BD82-7784A3AE1FC9}"/>
              </a:ext>
            </a:extLst>
          </p:cNvPr>
          <p:cNvSpPr>
            <a:spLocks noGrp="1"/>
          </p:cNvSpPr>
          <p:nvPr/>
        </p:nvSpPr>
        <p:spPr>
          <a:xfrm>
            <a:off x="3134836" y="1609725"/>
            <a:ext cx="400050" cy="323850"/>
          </a:xfrm>
          <a:prstGeom prst="rect">
            <a:avLst/>
          </a:prstGeom>
          <a:solidFill>
            <a:srgbClr val="FFFFFF"/>
          </a:solidFill>
          <a:ln w="16738">
            <a:solidFill>
              <a:srgbClr val="B4BEC8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5A6775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5A6775"/>
                </a:solidFill>
                <a:latin typeface="Times New Roman"/>
                <a:ea typeface="Times New Roman"/>
              </a:rPr>
              <a:t xml:space="preserve">–</a:t>
            </a:r>
            <a:endParaRPr lang="en-US" sz="2372"/>
          </a:p>
        </p:txBody>
      </p:sp>
      <p:sp>
        <p:nvSpPr>
          <p:cNvPr id="33" name="score-r2-c4">
            <a:extLst>
              <a:ext uri="{FF2B5EF4-FFF2-40B4-BE49-F238E27FC236}">
                <a16:creationId xmlns:a16="http://schemas.microsoft.com/office/drawing/2014/main" id="{D7461BF3-3054-47A3-AABF-EEB29745D400}"/>
              </a:ext>
            </a:extLst>
          </p:cNvPr>
          <p:cNvSpPr>
            <a:spLocks noGrp="1"/>
          </p:cNvSpPr>
          <p:nvPr/>
        </p:nvSpPr>
        <p:spPr>
          <a:xfrm>
            <a:off x="3553936" y="1609725"/>
            <a:ext cx="400050" cy="323850"/>
          </a:xfrm>
          <a:prstGeom prst="rect">
            <a:avLst/>
          </a:prstGeom>
          <a:solidFill>
            <a:srgbClr val="EBF0F6"/>
          </a:solidFill>
          <a:ln w="16738">
            <a:solidFill>
              <a:srgbClr val="B4BEC8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1B2733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1B2733"/>
                </a:solidFill>
                <a:latin typeface="Times New Roman"/>
                <a:ea typeface="Times New Roman"/>
              </a:rPr>
              <a:t xml:space="preserve">1</a:t>
            </a:r>
            <a:endParaRPr lang="en-US" sz="2372"/>
          </a:p>
        </p:txBody>
      </p:sp>
      <p:sp>
        <p:nvSpPr>
          <p:cNvPr id="34" name="score-r2-c5">
            <a:extLst>
              <a:ext uri="{FF2B5EF4-FFF2-40B4-BE49-F238E27FC236}">
                <a16:creationId xmlns:a16="http://schemas.microsoft.com/office/drawing/2014/main" id="{87DEB0EA-5CB4-4DD1-A199-CC01B25880AE}"/>
              </a:ext>
            </a:extLst>
          </p:cNvPr>
          <p:cNvSpPr>
            <a:spLocks noGrp="1"/>
          </p:cNvSpPr>
          <p:nvPr/>
        </p:nvSpPr>
        <p:spPr>
          <a:xfrm>
            <a:off x="3973036" y="1609725"/>
            <a:ext cx="400050" cy="323850"/>
          </a:xfrm>
          <a:prstGeom prst="rect">
            <a:avLst/>
          </a:prstGeom>
          <a:solidFill>
            <a:srgbClr val="EBF0F6"/>
          </a:solidFill>
          <a:ln w="16738">
            <a:solidFill>
              <a:srgbClr val="B4BEC8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1B2733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1B2733"/>
                </a:solidFill>
                <a:latin typeface="Times New Roman"/>
                <a:ea typeface="Times New Roman"/>
              </a:rPr>
              <a:t xml:space="preserve">1</a:t>
            </a:r>
            <a:endParaRPr lang="en-US" sz="2372"/>
          </a:p>
        </p:txBody>
      </p:sp>
      <p:sp>
        <p:nvSpPr>
          <p:cNvPr id="35" name="legend-recorded-swatch">
            <a:extLst>
              <a:ext uri="{FF2B5EF4-FFF2-40B4-BE49-F238E27FC236}">
                <a16:creationId xmlns:a16="http://schemas.microsoft.com/office/drawing/2014/main" id="{CB9B9A76-4452-4F4E-82D2-B10635D531F7}"/>
              </a:ext>
            </a:extLst>
          </p:cNvPr>
          <p:cNvSpPr>
            <a:spLocks noGrp="1"/>
          </p:cNvSpPr>
          <p:nvPr/>
        </p:nvSpPr>
        <p:spPr>
          <a:xfrm>
            <a:off x="620236" y="2200275"/>
            <a:ext cx="285750" cy="228600"/>
          </a:xfrm>
          <a:prstGeom prst="rect">
            <a:avLst/>
          </a:prstGeom>
          <a:solidFill>
            <a:srgbClr val="EBF0F6"/>
          </a:solidFill>
          <a:ln w="16738">
            <a:solidFill>
              <a:srgbClr val="B4BEC8"/>
            </a:solidFill>
          </a:ln>
        </p:spPr>
      </p:sp>
      <p:sp>
        <p:nvSpPr>
          <p:cNvPr id="36" name="legend-recorded">
            <a:extLst>
              <a:ext uri="{FF2B5EF4-FFF2-40B4-BE49-F238E27FC236}">
                <a16:creationId xmlns:a16="http://schemas.microsoft.com/office/drawing/2014/main" id="{65C5B8F8-BC01-444F-9D20-10E55E26560A}"/>
              </a:ext>
            </a:extLst>
          </p:cNvPr>
          <p:cNvSpPr>
            <a:spLocks noGrp="1"/>
          </p:cNvSpPr>
          <p:nvPr/>
        </p:nvSpPr>
        <p:spPr>
          <a:xfrm rot="0">
            <a:off x="972661" y="2133600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 fontAlgn="base">
              <a:defRPr sz="2372" lang="en-US" b="0" i="0" dirty="0">
                <a:solidFill>
                  <a:srgbClr val="5A6775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5A6775"/>
                </a:solidFill>
                <a:latin typeface="Times New Roman"/>
                <a:ea typeface="Times New Roman"/>
              </a:rPr>
              <a:t xml:space="preserve">Recorded score</a:t>
            </a:r>
            <a:endParaRPr lang="en-US" sz="2372"/>
          </a:p>
        </p:txBody>
      </p:sp>
      <p:sp>
        <p:nvSpPr>
          <p:cNvPr id="37" name="legend-unscored-swatch">
            <a:extLst>
              <a:ext uri="{FF2B5EF4-FFF2-40B4-BE49-F238E27FC236}">
                <a16:creationId xmlns:a16="http://schemas.microsoft.com/office/drawing/2014/main" id="{62CC8FD9-DF91-4595-AEC6-5732A40C03F7}"/>
              </a:ext>
            </a:extLst>
          </p:cNvPr>
          <p:cNvSpPr>
            <a:spLocks noGrp="1"/>
          </p:cNvSpPr>
          <p:nvPr/>
        </p:nvSpPr>
        <p:spPr>
          <a:xfrm>
            <a:off x="3430111" y="2200275"/>
            <a:ext cx="285750" cy="228600"/>
          </a:xfrm>
          <a:prstGeom prst="rect">
            <a:avLst/>
          </a:prstGeom>
          <a:solidFill>
            <a:srgbClr val="FFFFFF"/>
          </a:solidFill>
          <a:ln w="16738">
            <a:solidFill>
              <a:srgbClr val="B4BEC8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5A6775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5A6775"/>
                </a:solidFill>
                <a:latin typeface="Times New Roman"/>
                <a:ea typeface="Times New Roman"/>
              </a:rPr>
              <a:t xml:space="preserve">–</a:t>
            </a:r>
            <a:endParaRPr lang="en-US" sz="2372"/>
          </a:p>
        </p:txBody>
      </p:sp>
      <p:sp>
        <p:nvSpPr>
          <p:cNvPr id="38" name="legend-unscored">
            <a:extLst>
              <a:ext uri="{FF2B5EF4-FFF2-40B4-BE49-F238E27FC236}">
                <a16:creationId xmlns:a16="http://schemas.microsoft.com/office/drawing/2014/main" id="{67096DE5-8BB3-4760-A288-BF4586BD2B5B}"/>
              </a:ext>
            </a:extLst>
          </p:cNvPr>
          <p:cNvSpPr>
            <a:spLocks noGrp="1"/>
          </p:cNvSpPr>
          <p:nvPr/>
        </p:nvSpPr>
        <p:spPr>
          <a:xfrm rot="0">
            <a:off x="3782536" y="2133600"/>
            <a:ext cx="13811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 fontAlgn="base">
              <a:defRPr sz="2372" lang="en-US" b="0" i="0" dirty="0">
                <a:solidFill>
                  <a:srgbClr val="5A6775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5A6775"/>
                </a:solidFill>
                <a:latin typeface="Times New Roman"/>
                <a:ea typeface="Times New Roman"/>
              </a:rPr>
              <a:t xml:space="preserve">Not scored</a:t>
            </a:r>
            <a:endParaRPr lang="en-US" sz="2372"/>
          </a:p>
        </p:txBody>
      </p:sp>
      <p:sp>
        <p:nvSpPr>
          <p:cNvPr id="39" name="legend-excluded-swatch">
            <a:extLst>
              <a:ext uri="{FF2B5EF4-FFF2-40B4-BE49-F238E27FC236}">
                <a16:creationId xmlns:a16="http://schemas.microsoft.com/office/drawing/2014/main" id="{B4797A21-5F6A-4AAE-83FD-9AB123896166}"/>
              </a:ext>
            </a:extLst>
          </p:cNvPr>
          <p:cNvSpPr>
            <a:spLocks noGrp="1"/>
          </p:cNvSpPr>
          <p:nvPr/>
        </p:nvSpPr>
        <p:spPr>
          <a:xfrm>
            <a:off x="620236" y="2476500"/>
            <a:ext cx="285750" cy="228600"/>
          </a:xfrm>
          <a:prstGeom prst="rect">
            <a:avLst/>
          </a:prstGeom>
          <a:pattFill prst="upDiag">
            <a:fgClr>
              <a:srgbClr val="D9948F"/>
            </a:fgClr>
            <a:bgClr>
              <a:srgbClr val="FFFFFF"/>
            </a:bgClr>
          </a:pattFill>
          <a:ln w="23434">
            <a:solidFill>
              <a:srgbClr val="A3322C"/>
            </a:solidFill>
          </a:ln>
        </p:spPr>
      </p:sp>
      <p:sp>
        <p:nvSpPr>
          <p:cNvPr id="40" name="legend-excluded">
            <a:extLst>
              <a:ext uri="{FF2B5EF4-FFF2-40B4-BE49-F238E27FC236}">
                <a16:creationId xmlns:a16="http://schemas.microsoft.com/office/drawing/2014/main" id="{DAABF4E2-1B8A-42AA-BDAC-AA20785A324F}"/>
              </a:ext>
            </a:extLst>
          </p:cNvPr>
          <p:cNvSpPr>
            <a:spLocks noGrp="1"/>
          </p:cNvSpPr>
          <p:nvPr/>
        </p:nvSpPr>
        <p:spPr>
          <a:xfrm rot="0">
            <a:off x="972661" y="2409825"/>
            <a:ext cx="32385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 fontAlgn="base">
              <a:defRPr sz="2372" lang="en-US" b="0" i="0" dirty="0">
                <a:solidFill>
                  <a:srgbClr val="A3322C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A3322C"/>
                </a:solidFill>
                <a:latin typeface="Times New Roman"/>
                <a:ea typeface="Times New Roman"/>
              </a:rPr>
              <a:t xml:space="preserve">Excluded from credit</a:t>
            </a:r>
            <a:endParaRPr lang="en-US" sz="2372"/>
          </a:p>
        </p:txBody>
      </p:sp>
      <p:sp>
        <p:nvSpPr>
          <p:cNvPr id="41" name="legend-eligible-swatch">
            <a:extLst>
              <a:ext uri="{FF2B5EF4-FFF2-40B4-BE49-F238E27FC236}">
                <a16:creationId xmlns:a16="http://schemas.microsoft.com/office/drawing/2014/main" id="{ACF333FA-4CE8-4F39-A127-5ED200E75634}"/>
              </a:ext>
            </a:extLst>
          </p:cNvPr>
          <p:cNvSpPr>
            <a:spLocks noGrp="1"/>
          </p:cNvSpPr>
          <p:nvPr/>
        </p:nvSpPr>
        <p:spPr>
          <a:xfrm>
            <a:off x="620236" y="2752725"/>
            <a:ext cx="285750" cy="228600"/>
          </a:xfrm>
          <a:prstGeom prst="rect">
            <a:avLst/>
          </a:prstGeom>
          <a:solidFill>
            <a:srgbClr val="EBF0F6"/>
          </a:solidFill>
          <a:ln w="30129">
            <a:solidFill>
              <a:srgbClr val="B0761A"/>
            </a:solidFill>
          </a:ln>
        </p:spPr>
      </p:sp>
      <p:sp>
        <p:nvSpPr>
          <p:cNvPr id="42" name="legend-eligible">
            <a:extLst>
              <a:ext uri="{FF2B5EF4-FFF2-40B4-BE49-F238E27FC236}">
                <a16:creationId xmlns:a16="http://schemas.microsoft.com/office/drawing/2014/main" id="{2E774E89-3FA4-41EF-8757-B5DFE509E2C8}"/>
              </a:ext>
            </a:extLst>
          </p:cNvPr>
          <p:cNvSpPr>
            <a:spLocks noGrp="1"/>
          </p:cNvSpPr>
          <p:nvPr/>
        </p:nvSpPr>
        <p:spPr>
          <a:xfrm rot="0">
            <a:off x="972661" y="2686050"/>
            <a:ext cx="32385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 fontAlgn="base">
              <a:defRPr sz="2372" lang="en-US" b="0" i="0" dirty="0">
                <a:solidFill>
                  <a:srgbClr val="B0761A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B0761A"/>
                </a:solidFill>
                <a:latin typeface="Times New Roman"/>
                <a:ea typeface="Times New Roman"/>
              </a:rPr>
              <a:t xml:space="preserve">Eligible for credit</a:t>
            </a:r>
            <a:endParaRPr lang="en-US" sz="2372"/>
          </a:p>
        </p:txBody>
      </p:sp>
      <p:cxnSp>
        <p:nvCxnSpPr>
          <p:cNvPr id="43" name="cache-to-filter">
            <a:extLst>
              <a:ext uri="{FF2B5EF4-FFF2-40B4-BE49-F238E27FC236}">
                <a16:creationId xmlns:a16="http://schemas.microsoft.com/office/drawing/2014/main" id="{94B18B65-130A-48F9-BFBD-0AC021D0B134}"/>
              </a:ext>
            </a:extLst>
          </p:cNvPr>
          <p:cNvCxnSpPr/>
          <p:nvPr/>
        </p:nvCxnSpPr>
        <p:spPr>
          <a:xfrm flipV="1">
            <a:off x="4992211" y="619125"/>
            <a:ext cx="419100" cy="809625"/>
          </a:xfrm>
          <a:prstGeom prst="bentConnector3">
            <a:avLst>
              <a:gd name="adj1" fmla="val 50000"/>
            </a:avLst>
          </a:prstGeom>
          <a:noFill/>
          <a:ln w="23434" cap="rnd">
            <a:solidFill>
              <a:srgbClr val="B0761A"/>
            </a:solidFill>
            <a:prstDash val="solid"/>
            <a:round/>
            <a:headEnd type="none"/>
            <a:tailEnd type="triangle" w="med" len="lg"/>
          </a:ln>
        </p:spPr>
      </p:cxnSp>
      <p:sp>
        <p:nvSpPr>
          <p:cNvPr id="44" name="filter-box">
            <a:extLst>
              <a:ext uri="{FF2B5EF4-FFF2-40B4-BE49-F238E27FC236}">
                <a16:creationId xmlns:a16="http://schemas.microsoft.com/office/drawing/2014/main" id="{5BEAC570-9D0E-4CBC-857A-B11A7D83B64A}"/>
              </a:ext>
            </a:extLst>
          </p:cNvPr>
          <p:cNvSpPr>
            <a:spLocks noGrp="1"/>
          </p:cNvSpPr>
          <p:nvPr/>
        </p:nvSpPr>
        <p:spPr>
          <a:xfrm>
            <a:off x="5411311" y="285750"/>
            <a:ext cx="6553200" cy="666750"/>
          </a:xfrm>
          <a:prstGeom prst="roundRect">
            <a:avLst>
              <a:gd name="adj" fmla="val 9071"/>
            </a:avLst>
          </a:prstGeom>
          <a:solidFill>
            <a:srgbClr val="FFFFFF"/>
          </a:solidFill>
          <a:ln w="23434">
            <a:solidFill>
              <a:srgbClr val="B0761A"/>
            </a:solidFill>
          </a:ln>
        </p:spPr>
      </p:sp>
      <p:sp>
        <p:nvSpPr>
          <p:cNvPr id="45" name="filter-title">
            <a:extLst>
              <a:ext uri="{FF2B5EF4-FFF2-40B4-BE49-F238E27FC236}">
                <a16:creationId xmlns:a16="http://schemas.microsoft.com/office/drawing/2014/main" id="{8C80504D-5B7F-47CD-9813-AEE3CCF40397}"/>
              </a:ext>
            </a:extLst>
          </p:cNvPr>
          <p:cNvSpPr>
            <a:spLocks noGrp="1"/>
          </p:cNvSpPr>
          <p:nvPr/>
        </p:nvSpPr>
        <p:spPr>
          <a:xfrm rot="0">
            <a:off x="5497036" y="295275"/>
            <a:ext cx="63817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1B2733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1B2733"/>
                </a:solidFill>
                <a:latin typeface="Times New Roman"/>
                <a:ea typeface="Times New Roman"/>
              </a:rPr>
              <a:t xml:space="preserve">Filter scores </a:t>
            </a: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1B2733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p"/>
                      </m:rPr>
                      <a:rPr sz="2372" lang="en-US" b="0" i="0" dirty="0">
                        <a:solidFill>
                          <a:srgbClr val="1B2733"/>
                        </a:solidFill>
                        <a:latin typeface="Cambria Math"/>
                        <a:ea typeface="Cambria Math"/>
                      </a:rPr>
                      <m:t xml:space="preserve">Ω</m:t>
                    </m:r>
                  </m:e>
                  <m:sub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1B2733"/>
                        </a:solidFill>
                        <a:latin typeface="Cambria Math"/>
                        <a:ea typeface="Cambria Math"/>
                      </a:rPr>
                      <m:t xml:space="preserve">t</m:t>
                    </m:r>
                  </m:sub>
                </m:sSub>
                <m:r>
                  <m:rPr>
                    <m:sty m:val="p"/>
                  </m:rPr>
                  <a:rPr sz="2372" lang="en-US" b="0" i="0" dirty="0">
                    <a:solidFill>
                      <a:srgbClr val="1B2733"/>
                    </a:solidFill>
                    <a:latin typeface="Cambria Math"/>
                    <a:ea typeface="Cambria Math"/>
                  </a:rPr>
                  <m:t xml:space="preserve">(</m:t>
                </m:r>
                <m:r>
                  <m:rPr>
                    <m:sty m:val="i"/>
                  </m:rPr>
                  <a:rPr sz="2372" lang="en-US" b="0" i="0" dirty="0">
                    <a:solidFill>
                      <a:srgbClr val="1B2733"/>
                    </a:solidFill>
                    <a:latin typeface="Cambria Math"/>
                    <a:ea typeface="Cambria Math"/>
                  </a:rPr>
                  <m:t xml:space="preserve">s</m:t>
                </m:r>
                <m:r>
                  <m:rPr>
                    <m:sty m:val="p"/>
                  </m:rPr>
                  <a:rPr sz="2372" lang="en-US" b="0" i="0" dirty="0">
                    <a:solidFill>
                      <a:srgbClr val="1B2733"/>
                    </a:solidFill>
                    <a:latin typeface="Cambria Math"/>
                    <a:ea typeface="Cambria Math"/>
                  </a:rPr>
                  <m:t xml:space="preserve">)</m:t>
                </m:r>
              </m:oMath>
            </a14:m>
            <a:endParaRPr lang="en-US" sz="2372"/>
          </a:p>
        </p:txBody>
      </p:sp>
      <p:sp>
        <p:nvSpPr>
          <p:cNvPr id="46" name="filter-description">
            <a:extLst>
              <a:ext uri="{FF2B5EF4-FFF2-40B4-BE49-F238E27FC236}">
                <a16:creationId xmlns:a16="http://schemas.microsoft.com/office/drawing/2014/main" id="{EEF64C32-804E-4FB4-A6DB-7F5369A1B7FB}"/>
              </a:ext>
            </a:extLst>
          </p:cNvPr>
          <p:cNvSpPr>
            <a:spLocks noGrp="1"/>
          </p:cNvSpPr>
          <p:nvPr/>
        </p:nvSpPr>
        <p:spPr>
          <a:xfrm rot="0">
            <a:off x="5497036" y="581025"/>
            <a:ext cx="63817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5A6775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5A6775"/>
                </a:solidFill>
                <a:latin typeface="Times New Roman"/>
                <a:ea typeface="Times New Roman"/>
              </a:rPr>
              <a:t xml:space="preserve">Keep scored examples outside the proposal history</a:t>
            </a:r>
            <a:endParaRPr lang="en-US" sz="2372"/>
          </a:p>
        </p:txBody>
      </p:sp>
      <p:cxnSp>
        <p:nvCxnSpPr>
          <p:cNvPr id="47" name="filter-to-comparison">
            <a:extLst>
              <a:ext uri="{FF2B5EF4-FFF2-40B4-BE49-F238E27FC236}">
                <a16:creationId xmlns:a16="http://schemas.microsoft.com/office/drawing/2014/main" id="{2483510C-D8B7-4255-BF74-4647AA74E511}"/>
              </a:ext>
            </a:extLst>
          </p:cNvPr>
          <p:cNvCxnSpPr/>
          <p:nvPr/>
        </p:nvCxnSpPr>
        <p:spPr>
          <a:xfrm>
            <a:off x="8687911" y="952500"/>
            <a:ext cx="95" cy="133350"/>
          </a:xfrm>
          <a:prstGeom prst="line">
            <a:avLst/>
          </a:prstGeom>
          <a:noFill/>
          <a:ln w="23434" cap="rnd">
            <a:solidFill>
              <a:srgbClr val="B0761A"/>
            </a:solidFill>
            <a:prstDash val="solid"/>
            <a:round/>
            <a:headEnd type="none"/>
            <a:tailEnd type="triangle" w="med" len="lg"/>
          </a:ln>
        </p:spPr>
      </p:cxnSp>
      <p:sp>
        <p:nvSpPr>
          <p:cNvPr id="48" name="comparison-box">
            <a:extLst>
              <a:ext uri="{FF2B5EF4-FFF2-40B4-BE49-F238E27FC236}">
                <a16:creationId xmlns:a16="http://schemas.microsoft.com/office/drawing/2014/main" id="{78B85E44-6252-4929-8385-701562BC839D}"/>
              </a:ext>
            </a:extLst>
          </p:cNvPr>
          <p:cNvSpPr>
            <a:spLocks noGrp="1"/>
          </p:cNvSpPr>
          <p:nvPr/>
        </p:nvSpPr>
        <p:spPr>
          <a:xfrm>
            <a:off x="5411311" y="1085850"/>
            <a:ext cx="6553200" cy="666750"/>
          </a:xfrm>
          <a:prstGeom prst="roundRect">
            <a:avLst>
              <a:gd name="adj" fmla="val 9071"/>
            </a:avLst>
          </a:prstGeom>
          <a:solidFill>
            <a:srgbClr val="FFFFFF"/>
          </a:solidFill>
          <a:ln w="23434">
            <a:solidFill>
              <a:srgbClr val="B0761A"/>
            </a:solidFill>
          </a:ln>
        </p:spPr>
      </p:sp>
      <p:sp>
        <p:nvSpPr>
          <p:cNvPr id="49" name="comparison-title">
            <a:extLst>
              <a:ext uri="{FF2B5EF4-FFF2-40B4-BE49-F238E27FC236}">
                <a16:creationId xmlns:a16="http://schemas.microsoft.com/office/drawing/2014/main" id="{476BC80D-2754-4545-9EC4-600230F6A1A1}"/>
              </a:ext>
            </a:extLst>
          </p:cNvPr>
          <p:cNvSpPr>
            <a:spLocks noGrp="1"/>
          </p:cNvSpPr>
          <p:nvPr/>
        </p:nvSpPr>
        <p:spPr>
          <a:xfrm rot="0">
            <a:off x="5497036" y="1095375"/>
            <a:ext cx="63817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1B2733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1B2733"/>
                </a:solidFill>
                <a:latin typeface="Times New Roman"/>
                <a:ea typeface="Times New Roman"/>
              </a:rPr>
              <a:t xml:space="preserve">Compare skills on each example</a:t>
            </a:r>
            <a:endParaRPr lang="en-US" sz="2372"/>
          </a:p>
        </p:txBody>
      </p:sp>
      <p:sp>
        <p:nvSpPr>
          <p:cNvPr id="50" name="comparison-description">
            <a:extLst>
              <a:ext uri="{FF2B5EF4-FFF2-40B4-BE49-F238E27FC236}">
                <a16:creationId xmlns:a16="http://schemas.microsoft.com/office/drawing/2014/main" id="{398113EF-871C-4D21-B49E-975AF211274D}"/>
              </a:ext>
            </a:extLst>
          </p:cNvPr>
          <p:cNvSpPr>
            <a:spLocks noGrp="1"/>
          </p:cNvSpPr>
          <p:nvPr/>
        </p:nvSpPr>
        <p:spPr>
          <a:xfrm rot="0">
            <a:off x="5497036" y="1381125"/>
            <a:ext cx="63817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5A6775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5A6775"/>
                </a:solidFill>
                <a:latin typeface="Times New Roman"/>
                <a:ea typeface="Times New Roman"/>
              </a:rPr>
              <a:t xml:space="preserve">Compute per-instance credit </a:t>
            </a: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r</m:t>
                    </m:r>
                  </m:e>
                  <m:sub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s</m:t>
                    </m:r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x</m:t>
                    </m:r>
                  </m:sub>
                </m:sSub>
              </m:oMath>
            </a14:m>
            <a:endParaRPr lang="en-US" sz="2372"/>
          </a:p>
        </p:txBody>
      </p:sp>
      <p:cxnSp>
        <p:nvCxnSpPr>
          <p:cNvPr id="51" name="comparison-to-credit">
            <a:extLst>
              <a:ext uri="{FF2B5EF4-FFF2-40B4-BE49-F238E27FC236}">
                <a16:creationId xmlns:a16="http://schemas.microsoft.com/office/drawing/2014/main" id="{79B0BBE3-2E80-4D8E-B633-23571DAD3939}"/>
              </a:ext>
            </a:extLst>
          </p:cNvPr>
          <p:cNvCxnSpPr/>
          <p:nvPr/>
        </p:nvCxnSpPr>
        <p:spPr>
          <a:xfrm>
            <a:off x="8687911" y="1752600"/>
            <a:ext cx="95" cy="514350"/>
          </a:xfrm>
          <a:prstGeom prst="line">
            <a:avLst/>
          </a:prstGeom>
          <a:noFill/>
          <a:ln w="23434" cap="rnd">
            <a:solidFill>
              <a:srgbClr val="B0761A"/>
            </a:solidFill>
            <a:prstDash val="solid"/>
            <a:round/>
            <a:headEnd type="none"/>
            <a:tailEnd type="triangle" w="med" len="lg"/>
          </a:ln>
        </p:spPr>
      </p:cxnSp>
      <p:sp>
        <p:nvSpPr>
          <p:cNvPr id="52" name="credit-box">
            <a:extLst>
              <a:ext uri="{FF2B5EF4-FFF2-40B4-BE49-F238E27FC236}">
                <a16:creationId xmlns:a16="http://schemas.microsoft.com/office/drawing/2014/main" id="{9419DE37-AFD2-49EF-8CC9-419E0B993920}"/>
              </a:ext>
            </a:extLst>
          </p:cNvPr>
          <p:cNvSpPr>
            <a:spLocks noGrp="1"/>
          </p:cNvSpPr>
          <p:nvPr/>
        </p:nvSpPr>
        <p:spPr>
          <a:xfrm>
            <a:off x="5411311" y="2266950"/>
            <a:ext cx="6553200" cy="666750"/>
          </a:xfrm>
          <a:prstGeom prst="roundRect">
            <a:avLst>
              <a:gd name="adj" fmla="val 37143"/>
            </a:avLst>
          </a:prstGeom>
          <a:solidFill>
            <a:srgbClr val="FBEFD6"/>
          </a:solidFill>
          <a:ln w="33477">
            <a:solidFill>
              <a:srgbClr val="B0761A"/>
            </a:solidFill>
          </a:ln>
        </p:spPr>
      </p:sp>
      <p:sp>
        <p:nvSpPr>
          <p:cNvPr id="53" name="credit-title">
            <a:extLst>
              <a:ext uri="{FF2B5EF4-FFF2-40B4-BE49-F238E27FC236}">
                <a16:creationId xmlns:a16="http://schemas.microsoft.com/office/drawing/2014/main" id="{45BF5F53-F10A-4D37-9AFD-1D1A89DDF469}"/>
              </a:ext>
            </a:extLst>
          </p:cNvPr>
          <p:cNvSpPr>
            <a:spLocks noGrp="1"/>
          </p:cNvSpPr>
          <p:nvPr/>
        </p:nvSpPr>
        <p:spPr>
          <a:xfrm rot="0">
            <a:off x="5497036" y="2276475"/>
            <a:ext cx="63817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1B2733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1B2733"/>
                </a:solidFill>
                <a:latin typeface="Times New Roman"/>
                <a:ea typeface="Times New Roman"/>
              </a:rPr>
              <a:t xml:space="preserve">Relative credit </a:t>
            </a: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1B2733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1B2733"/>
                        </a:solidFill>
                        <a:latin typeface="Cambria Math"/>
                        <a:ea typeface="Cambria Math"/>
                      </a:rPr>
                      <m:t xml:space="preserve">G</m:t>
                    </m:r>
                  </m:e>
                  <m:sub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1B2733"/>
                        </a:solidFill>
                        <a:latin typeface="Cambria Math"/>
                        <a:ea typeface="Cambria Math"/>
                      </a:rPr>
                      <m:t xml:space="preserve">s</m:t>
                    </m:r>
                  </m:sub>
                </m:sSub>
              </m:oMath>
            </a14:m>
            <a:endParaRPr lang="en-US" sz="2372"/>
          </a:p>
        </p:txBody>
      </p:sp>
      <p:sp>
        <p:nvSpPr>
          <p:cNvPr id="54" name="credit-description">
            <a:extLst>
              <a:ext uri="{FF2B5EF4-FFF2-40B4-BE49-F238E27FC236}">
                <a16:creationId xmlns:a16="http://schemas.microsoft.com/office/drawing/2014/main" id="{D590C435-D9AB-4D98-80B8-23BAEE055119}"/>
              </a:ext>
            </a:extLst>
          </p:cNvPr>
          <p:cNvSpPr>
            <a:spLocks noGrp="1"/>
          </p:cNvSpPr>
          <p:nvPr/>
        </p:nvSpPr>
        <p:spPr>
          <a:xfrm rot="0">
            <a:off x="5497036" y="2562225"/>
            <a:ext cx="63817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5A6775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5A6775"/>
                </a:solidFill>
                <a:latin typeface="Times New Roman"/>
                <a:ea typeface="Times New Roman"/>
              </a:rPr>
              <a:t xml:space="preserve">Average over comparable examples, Eq. (2)</a:t>
            </a:r>
            <a:endParaRPr lang="en-US" sz="2372"/>
          </a:p>
        </p:txBody>
      </p:sp>
      <p:cxnSp>
        <p:nvCxnSpPr>
          <p:cNvPr id="55" name="credit-branch-stem">
            <a:extLst>
              <a:ext uri="{FF2B5EF4-FFF2-40B4-BE49-F238E27FC236}">
                <a16:creationId xmlns:a16="http://schemas.microsoft.com/office/drawing/2014/main" id="{252C6AE3-81D8-495F-9322-7BEB6C9E2A42}"/>
              </a:ext>
            </a:extLst>
          </p:cNvPr>
          <p:cNvCxnSpPr/>
          <p:nvPr/>
        </p:nvCxnSpPr>
        <p:spPr>
          <a:xfrm>
            <a:off x="8687911" y="2933700"/>
            <a:ext cx="95" cy="171450"/>
          </a:xfrm>
          <a:prstGeom prst="line">
            <a:avLst/>
          </a:prstGeom>
          <a:noFill/>
          <a:ln w="23434" cap="rnd">
            <a:solidFill>
              <a:srgbClr val="B0761A"/>
            </a:solidFill>
            <a:prstDash val="solid"/>
            <a:round/>
            <a:headEnd type="none"/>
            <a:tailEnd type="none" w="med" len="lg"/>
          </a:ln>
        </p:spPr>
      </p:cxnSp>
      <p:cxnSp>
        <p:nvCxnSpPr>
          <p:cNvPr id="56" name="credit-to-propose">
            <a:extLst>
              <a:ext uri="{FF2B5EF4-FFF2-40B4-BE49-F238E27FC236}">
                <a16:creationId xmlns:a16="http://schemas.microsoft.com/office/drawing/2014/main" id="{61E1FF41-3EDF-489A-B79D-7C3F00D37ABC}"/>
              </a:ext>
            </a:extLst>
          </p:cNvPr>
          <p:cNvCxnSpPr/>
          <p:nvPr/>
        </p:nvCxnSpPr>
        <p:spPr>
          <a:xfrm flipH="1">
            <a:off x="3596799" y="3105150"/>
            <a:ext cx="5091112" cy="171450"/>
          </a:xfrm>
          <a:prstGeom prst="bentConnector2">
            <a:avLst/>
          </a:prstGeom>
          <a:noFill/>
          <a:ln w="23434" cap="rnd">
            <a:solidFill>
              <a:srgbClr val="B0761A"/>
            </a:solidFill>
            <a:prstDash val="solid"/>
            <a:round/>
            <a:headEnd type="none"/>
            <a:tailEnd type="triangle" w="med" len="lg"/>
          </a:ln>
        </p:spPr>
      </p:cxnSp>
      <p:cxnSp>
        <p:nvCxnSpPr>
          <p:cNvPr id="57" name="credit-to-evaluate">
            <a:extLst>
              <a:ext uri="{FF2B5EF4-FFF2-40B4-BE49-F238E27FC236}">
                <a16:creationId xmlns:a16="http://schemas.microsoft.com/office/drawing/2014/main" id="{9F093D5F-13DE-4C5B-B5DD-86A00D6329B4}"/>
              </a:ext>
            </a:extLst>
          </p:cNvPr>
          <p:cNvCxnSpPr/>
          <p:nvPr/>
        </p:nvCxnSpPr>
        <p:spPr>
          <a:xfrm>
            <a:off x="8687911" y="3105150"/>
            <a:ext cx="1062038" cy="171450"/>
          </a:xfrm>
          <a:prstGeom prst="bentConnector2">
            <a:avLst/>
          </a:prstGeom>
          <a:noFill/>
          <a:ln w="23434" cap="rnd">
            <a:solidFill>
              <a:srgbClr val="B0761A"/>
            </a:solidFill>
            <a:prstDash val="solid"/>
            <a:round/>
            <a:headEnd type="none"/>
            <a:tailEnd type="triangle" w="med" len="lg"/>
          </a:ln>
        </p:spPr>
      </p:cxnSp>
      <p:sp>
        <p:nvSpPr>
          <p:cNvPr id="58" name="proposal-panel">
            <a:extLst>
              <a:ext uri="{FF2B5EF4-FFF2-40B4-BE49-F238E27FC236}">
                <a16:creationId xmlns:a16="http://schemas.microsoft.com/office/drawing/2014/main" id="{2C946B5E-C9AB-4F22-BD59-4F2918134712}"/>
              </a:ext>
            </a:extLst>
          </p:cNvPr>
          <p:cNvSpPr>
            <a:spLocks noGrp="1"/>
          </p:cNvSpPr>
          <p:nvPr/>
        </p:nvSpPr>
        <p:spPr>
          <a:xfrm>
            <a:off x="605949" y="3276600"/>
            <a:ext cx="5981700" cy="2857500"/>
          </a:xfrm>
          <a:prstGeom prst="roundRect">
            <a:avLst>
              <a:gd name="adj" fmla="val 2117"/>
            </a:avLst>
          </a:prstGeom>
          <a:solidFill>
            <a:srgbClr val="FFFFFF"/>
          </a:solidFill>
          <a:ln w="20086">
            <a:solidFill>
              <a:srgbClr val="B4BEC8"/>
            </a:solidFill>
          </a:ln>
        </p:spPr>
      </p:sp>
      <p:sp>
        <p:nvSpPr>
          <p:cNvPr id="59" name="proposal-header">
            <a:extLst>
              <a:ext uri="{FF2B5EF4-FFF2-40B4-BE49-F238E27FC236}">
                <a16:creationId xmlns:a16="http://schemas.microsoft.com/office/drawing/2014/main" id="{CD9B30F0-1562-4001-8326-FE8519826973}"/>
              </a:ext>
            </a:extLst>
          </p:cNvPr>
          <p:cNvSpPr>
            <a:spLocks noGrp="1"/>
          </p:cNvSpPr>
          <p:nvPr/>
        </p:nvSpPr>
        <p:spPr>
          <a:xfrm>
            <a:off x="605949" y="3276600"/>
            <a:ext cx="5981700" cy="400050"/>
          </a:xfrm>
          <a:prstGeom prst="roundRect">
            <a:avLst>
              <a:gd name="adj" fmla="val 15119"/>
            </a:avLst>
          </a:prstGeom>
          <a:solidFill>
            <a:srgbClr val="1F7A6B"/>
          </a:solidFill>
          <a:ln w="0">
            <a:noFill/>
          </a:ln>
        </p:spPr>
      </p:sp>
      <p:sp>
        <p:nvSpPr>
          <p:cNvPr id="60" name="proposal-header-square-bottom">
            <a:extLst>
              <a:ext uri="{FF2B5EF4-FFF2-40B4-BE49-F238E27FC236}">
                <a16:creationId xmlns:a16="http://schemas.microsoft.com/office/drawing/2014/main" id="{EE6C46EE-9C82-4756-9338-E43A19E69BC4}"/>
              </a:ext>
            </a:extLst>
          </p:cNvPr>
          <p:cNvSpPr>
            <a:spLocks noGrp="1"/>
          </p:cNvSpPr>
          <p:nvPr/>
        </p:nvSpPr>
        <p:spPr>
          <a:xfrm>
            <a:off x="605949" y="3467100"/>
            <a:ext cx="5981700" cy="209550"/>
          </a:xfrm>
          <a:prstGeom prst="rect">
            <a:avLst/>
          </a:prstGeom>
          <a:solidFill>
            <a:srgbClr val="1F7A6B"/>
          </a:solidFill>
          <a:ln w="0">
            <a:noFill/>
          </a:ln>
        </p:spPr>
      </p:sp>
      <p:sp>
        <p:nvSpPr>
          <p:cNvPr id="61" name="proposal-step-number">
            <a:extLst>
              <a:ext uri="{FF2B5EF4-FFF2-40B4-BE49-F238E27FC236}">
                <a16:creationId xmlns:a16="http://schemas.microsoft.com/office/drawing/2014/main" id="{CD5F5A33-DCAE-4C05-AF91-0318437D85F2}"/>
              </a:ext>
            </a:extLst>
          </p:cNvPr>
          <p:cNvSpPr>
            <a:spLocks noGrp="1"/>
          </p:cNvSpPr>
          <p:nvPr/>
        </p:nvSpPr>
        <p:spPr>
          <a:xfrm>
            <a:off x="758349" y="3305175"/>
            <a:ext cx="342900" cy="3429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1" i="0" dirty="0">
                <a:solidFill>
                  <a:srgbClr val="1F7A6B"/>
                </a:solidFill>
                <a:latin typeface="Times New Roman"/>
                <a:ea typeface="Times New Roman"/>
              </a:defRPr>
            </a:pPr>
            <a:r>
              <a:rPr sz="2372" lang="en-US" b="1" i="0" dirty="0">
                <a:solidFill>
                  <a:srgbClr val="1F7A6B"/>
                </a:solidFill>
                <a:latin typeface="Times New Roman"/>
                <a:ea typeface="Times New Roman"/>
              </a:rPr>
              <a:t xml:space="preserve">1</a:t>
            </a:r>
            <a:endParaRPr lang="en-US" sz="2372"/>
          </a:p>
        </p:txBody>
      </p:sp>
      <p:sp>
        <p:nvSpPr>
          <p:cNvPr id="62" name="proposal-title">
            <a:extLst>
              <a:ext uri="{FF2B5EF4-FFF2-40B4-BE49-F238E27FC236}">
                <a16:creationId xmlns:a16="http://schemas.microsoft.com/office/drawing/2014/main" id="{D1174C1E-ED59-44AE-8F4D-05218B6EFF1F}"/>
              </a:ext>
            </a:extLst>
          </p:cNvPr>
          <p:cNvSpPr>
            <a:spLocks noGrp="1"/>
          </p:cNvSpPr>
          <p:nvPr/>
        </p:nvSpPr>
        <p:spPr>
          <a:xfrm rot="0">
            <a:off x="1186974" y="3295650"/>
            <a:ext cx="300037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 fontAlgn="base">
              <a:defRPr sz="2504" lang="en-US" b="1" i="0" dirty="0">
                <a:solidFill>
                  <a:srgbClr val="FFFFFF"/>
                </a:solidFill>
                <a:latin typeface="Times New Roman"/>
                <a:ea typeface="Times New Roman"/>
              </a:defRPr>
            </a:pPr>
            <a:r>
              <a:rPr sz="2504" lang="en-US" b="1" i="0" dirty="0">
                <a:solidFill>
                  <a:srgbClr val="FFFFFF"/>
                </a:solidFill>
                <a:latin typeface="Times New Roman"/>
                <a:ea typeface="Times New Roman"/>
              </a:rPr>
              <a:t xml:space="preserve">Generate skills</a:t>
            </a:r>
            <a:endParaRPr lang="en-US" sz="2504"/>
          </a:p>
        </p:txBody>
      </p:sp>
      <p:sp>
        <p:nvSpPr>
          <p:cNvPr id="63" name="proposal-header-map">
            <a:extLst>
              <a:ext uri="{FF2B5EF4-FFF2-40B4-BE49-F238E27FC236}">
                <a16:creationId xmlns:a16="http://schemas.microsoft.com/office/drawing/2014/main" id="{F53788EB-DE21-469B-BE5B-FA074A9BEA57}"/>
              </a:ext>
            </a:extLst>
          </p:cNvPr>
          <p:cNvSpPr>
            <a:spLocks noGrp="1"/>
          </p:cNvSpPr>
          <p:nvPr/>
        </p:nvSpPr>
        <p:spPr>
          <a:xfrm rot="0">
            <a:off x="4425474" y="3295650"/>
            <a:ext cx="20193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 fontAlgn="base">
              <a:defRPr sz="2372" lang="en-US" b="0" i="0" dirty="0">
                <a:solidFill>
                  <a:srgbClr val="EAF3F0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EAF3F0"/>
                </a:solidFill>
                <a:latin typeface="Times New Roman"/>
                <a:ea typeface="Times New Roman"/>
              </a:rPr>
              <a:t xml:space="preserve">Slot       batch</a:t>
            </a:r>
            <a:endParaRPr lang="en-US" sz="2372"/>
          </a:p>
        </p:txBody>
      </p:sp>
      <p:cxnSp>
        <p:nvCxnSpPr>
          <p:cNvPr id="64" name="proposal-header-native-arrow">
            <a:extLst>
              <a:ext uri="{FF2B5EF4-FFF2-40B4-BE49-F238E27FC236}">
                <a16:creationId xmlns:a16="http://schemas.microsoft.com/office/drawing/2014/main" id="{4D1E1E5C-30FA-43E8-B1FE-A09060553BA7}"/>
              </a:ext>
            </a:extLst>
          </p:cNvPr>
          <p:cNvCxnSpPr/>
          <p:nvPr/>
        </p:nvCxnSpPr>
        <p:spPr>
          <a:xfrm>
            <a:off x="5373211" y="3476625"/>
            <a:ext cx="352425" cy="95"/>
          </a:xfrm>
          <a:prstGeom prst="line">
            <a:avLst/>
          </a:prstGeom>
          <a:noFill/>
          <a:ln w="16738" cap="rnd">
            <a:solidFill>
              <a:srgbClr val="EAF3F0"/>
            </a:solidFill>
            <a:prstDash val="solid"/>
            <a:round/>
            <a:headEnd type="none"/>
            <a:tailEnd type="triangle" w="med" len="lg"/>
          </a:ln>
        </p:spPr>
      </p:cxnSp>
      <p:sp>
        <p:nvSpPr>
          <p:cNvPr id="65" name="proposal-selection">
            <a:extLst>
              <a:ext uri="{FF2B5EF4-FFF2-40B4-BE49-F238E27FC236}">
                <a16:creationId xmlns:a16="http://schemas.microsoft.com/office/drawing/2014/main" id="{48DA5C22-4D5D-4B6A-A3D0-AE4CBAACD9C5}"/>
              </a:ext>
            </a:extLst>
          </p:cNvPr>
          <p:cNvSpPr>
            <a:spLocks noGrp="1"/>
          </p:cNvSpPr>
          <p:nvPr/>
        </p:nvSpPr>
        <p:spPr>
          <a:xfrm rot="0">
            <a:off x="739299" y="3743325"/>
            <a:ext cx="5715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1F7A6B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1F7A6B"/>
                </a:solidFill>
                <a:latin typeface="Times New Roman"/>
                <a:ea typeface="Times New Roman"/>
              </a:rPr>
              <a:t xml:space="preserve">Select parents by </a:t>
            </a: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1F7A6B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1F7A6B"/>
                        </a:solidFill>
                        <a:latin typeface="Cambria Math"/>
                        <a:ea typeface="Cambria Math"/>
                      </a:rPr>
                      <m:t xml:space="preserve">G</m:t>
                    </m:r>
                  </m:e>
                  <m:sub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1F7A6B"/>
                        </a:solidFill>
                        <a:latin typeface="Cambria Math"/>
                        <a:ea typeface="Cambria Math"/>
                      </a:rPr>
                      <m:t xml:space="preserve">s</m:t>
                    </m:r>
                  </m:sub>
                </m:sSub>
              </m:oMath>
            </a14:m>
            <a:r>
              <a:rPr sz="2372" lang="en-US" b="0" i="0" dirty="0">
                <a:solidFill>
                  <a:srgbClr val="1F7A6B"/>
                </a:solidFill>
                <a:latin typeface="Times New Roman"/>
                <a:ea typeface="Times New Roman"/>
              </a:rPr>
              <a:t xml:space="preserve">, in turn</a:t>
            </a:r>
            <a:endParaRPr lang="en-US" sz="2372"/>
          </a:p>
        </p:txBody>
      </p:sp>
      <p:sp>
        <p:nvSpPr>
          <p:cNvPr id="66" name="proposal-matching">
            <a:extLst>
              <a:ext uri="{FF2B5EF4-FFF2-40B4-BE49-F238E27FC236}">
                <a16:creationId xmlns:a16="http://schemas.microsoft.com/office/drawing/2014/main" id="{B723C24D-90EF-45FD-AF4A-66F3FB5D4D59}"/>
              </a:ext>
            </a:extLst>
          </p:cNvPr>
          <p:cNvSpPr>
            <a:spLocks noGrp="1"/>
          </p:cNvSpPr>
          <p:nvPr/>
        </p:nvSpPr>
        <p:spPr>
          <a:xfrm rot="0">
            <a:off x="739299" y="4010025"/>
            <a:ext cx="5715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1F7A6B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1F7A6B"/>
                </a:solidFill>
                <a:latin typeface="Times New Roman"/>
                <a:ea typeface="Times New Roman"/>
              </a:rPr>
              <a:t xml:space="preserve">Match slots to batches (</a:t>
            </a:r>
            <a14:m>
              <m:oMath>
                <m:r>
                  <m:rPr>
                    <m:sty m:val="i"/>
                  </m:rPr>
                  <a:rPr sz="2372" lang="en-US" b="0" i="0" dirty="0">
                    <a:solidFill>
                      <a:srgbClr val="1F7A6B"/>
                    </a:solidFill>
                    <a:latin typeface="Cambria Math"/>
                    <a:ea typeface="Cambria Math"/>
                  </a:rPr>
                  <m:t xml:space="preserve">H</m:t>
                </m:r>
              </m:oMath>
            </a14:m>
            <a:r>
              <a:rPr sz="2372" lang="en-US" b="0" i="0" dirty="0">
                <a:solidFill>
                  <a:srgbClr val="1F7A6B"/>
                </a:solidFill>
                <a:latin typeface="Times New Roman"/>
                <a:ea typeface="Times New Roman"/>
              </a:rPr>
              <a:t xml:space="preserve">), Eq. (4)</a:t>
            </a:r>
            <a:endParaRPr lang="en-US" sz="2372"/>
          </a:p>
        </p:txBody>
      </p:sp>
      <p:sp>
        <p:nvSpPr>
          <p:cNvPr id="67" name="parent-slot-0">
            <a:extLst>
              <a:ext uri="{FF2B5EF4-FFF2-40B4-BE49-F238E27FC236}">
                <a16:creationId xmlns:a16="http://schemas.microsoft.com/office/drawing/2014/main" id="{5B6B5888-DBDB-43BA-9D27-3FADAFB82D12}"/>
              </a:ext>
            </a:extLst>
          </p:cNvPr>
          <p:cNvSpPr>
            <a:spLocks noGrp="1"/>
          </p:cNvSpPr>
          <p:nvPr/>
        </p:nvSpPr>
        <p:spPr>
          <a:xfrm>
            <a:off x="1591786" y="4391025"/>
            <a:ext cx="857250" cy="400050"/>
          </a:xfrm>
          <a:prstGeom prst="roundRect">
            <a:avLst>
              <a:gd name="adj" fmla="val 5881"/>
            </a:avLst>
          </a:prstGeom>
          <a:solidFill>
            <a:srgbClr val="FFFFFF"/>
          </a:solidFill>
          <a:ln w="20086">
            <a:solidFill>
              <a:srgbClr val="B4BEC8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1B2733"/>
                </a:solidFill>
                <a:latin typeface="Times New Roman"/>
                <a:ea typeface="Times New Roman"/>
              </a:defRPr>
            </a:pP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1B2733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1B2733"/>
                        </a:solidFill>
                        <a:latin typeface="Cambria Math"/>
                        <a:ea typeface="Cambria Math"/>
                      </a:rPr>
                      <m:t xml:space="preserve">z</m:t>
                    </m:r>
                  </m:e>
                  <m:sub>
                    <m:r>
                      <m:rPr>
                        <m:sty m:val="p"/>
                      </m:rPr>
                      <a:rPr sz="2372" lang="en-US" b="0" i="0" dirty="0">
                        <a:solidFill>
                          <a:srgbClr val="1B2733"/>
                        </a:solidFill>
                        <a:latin typeface="Cambria Math"/>
                        <a:ea typeface="Cambria Math"/>
                      </a:rPr>
                      <m:t xml:space="preserve">0</m:t>
                    </m:r>
                  </m:sub>
                </m:sSub>
              </m:oMath>
            </a14:m>
            <a:endParaRPr lang="en-US" sz="2372"/>
          </a:p>
        </p:txBody>
      </p:sp>
      <p:cxnSp>
        <p:nvCxnSpPr>
          <p:cNvPr id="68" name="slot-to-batch-0">
            <a:extLst>
              <a:ext uri="{FF2B5EF4-FFF2-40B4-BE49-F238E27FC236}">
                <a16:creationId xmlns:a16="http://schemas.microsoft.com/office/drawing/2014/main" id="{FE6D182B-D93F-4BCE-A6B9-4F61C1CCC3E0}"/>
              </a:ext>
            </a:extLst>
          </p:cNvPr>
          <p:cNvCxnSpPr/>
          <p:nvPr/>
        </p:nvCxnSpPr>
        <p:spPr>
          <a:xfrm>
            <a:off x="2534761" y="4591050"/>
            <a:ext cx="723900" cy="95"/>
          </a:xfrm>
          <a:prstGeom prst="line">
            <a:avLst/>
          </a:prstGeom>
          <a:noFill/>
          <a:ln w="23434" cap="rnd">
            <a:solidFill>
              <a:srgbClr val="1F7A6B"/>
            </a:solidFill>
            <a:prstDash val="solid"/>
            <a:round/>
            <a:headEnd type="none"/>
            <a:tailEnd type="triangle" w="med" len="lg"/>
          </a:ln>
        </p:spPr>
      </p:cxnSp>
      <p:sp>
        <p:nvSpPr>
          <p:cNvPr id="69" name="proposal-batch-chip-2">
            <a:extLst>
              <a:ext uri="{FF2B5EF4-FFF2-40B4-BE49-F238E27FC236}">
                <a16:creationId xmlns:a16="http://schemas.microsoft.com/office/drawing/2014/main" id="{0039541D-C0B8-4208-9D44-ABD83CA6796B}"/>
              </a:ext>
            </a:extLst>
          </p:cNvPr>
          <p:cNvSpPr>
            <a:spLocks noGrp="1"/>
          </p:cNvSpPr>
          <p:nvPr/>
        </p:nvSpPr>
        <p:spPr>
          <a:xfrm>
            <a:off x="3344386" y="4391025"/>
            <a:ext cx="495300" cy="400050"/>
          </a:xfrm>
          <a:prstGeom prst="roundRect">
            <a:avLst>
              <a:gd name="adj" fmla="val 5881"/>
            </a:avLst>
          </a:prstGeom>
          <a:solidFill>
            <a:srgbClr val="1F7A6B"/>
          </a:solidFill>
          <a:ln w="16738">
            <a:solidFill>
              <a:srgbClr val="1F7A6B"/>
            </a:solidFill>
          </a:ln>
        </p:spPr>
      </p:sp>
      <p:sp>
        <p:nvSpPr>
          <p:cNvPr id="70" name="proposal-batch-equation-2">
            <a:extLst>
              <a:ext uri="{FF2B5EF4-FFF2-40B4-BE49-F238E27FC236}">
                <a16:creationId xmlns:a16="http://schemas.microsoft.com/office/drawing/2014/main" id="{45D61E44-999B-4331-96BE-E4752BB1CFF8}"/>
              </a:ext>
            </a:extLst>
          </p:cNvPr>
          <p:cNvSpPr>
            <a:spLocks noGrp="1"/>
          </p:cNvSpPr>
          <p:nvPr/>
        </p:nvSpPr>
        <p:spPr>
          <a:xfrm rot="0">
            <a:off x="3382486" y="4410075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 fontAlgn="base">
              <a:defRPr sz="2372" lang="en-US" b="0" i="0" dirty="0">
                <a:solidFill>
                  <a:srgbClr val="5A6775"/>
                </a:solidFill>
                <a:latin typeface="Times New Roman"/>
                <a:ea typeface="Times New Roman"/>
              </a:defRPr>
            </a:pP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FFFFFF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FFFFFF"/>
                        </a:solidFill>
                        <a:latin typeface="Cambria Math"/>
                        <a:ea typeface="Cambria Math"/>
                      </a:rPr>
                      <m:t xml:space="preserve">P</m:t>
                    </m:r>
                  </m:e>
                  <m:sub>
                    <m:r>
                      <m:rPr>
                        <m:sty m:val="p"/>
                      </m:rPr>
                      <a:rPr sz="2372" lang="en-US" b="0" i="0" dirty="0">
                        <a:solidFill>
                          <a:srgbClr val="FFFFFF"/>
                        </a:solidFill>
                        <a:latin typeface="Cambria Math"/>
                        <a:ea typeface="Cambria Math"/>
                      </a:rPr>
                      <m:t xml:space="preserve">2</m:t>
                    </m:r>
                  </m:sub>
                </m:sSub>
              </m:oMath>
            </a14:m>
            <a:r>
              <a:rPr sz="2372" lang="en-US" b="0" i="0" dirty="0">
                <a:solidFill>
                  <a:srgbClr val="5A6775"/>
                </a:solidFill>
                <a:latin typeface="Times New Roman"/>
                <a:ea typeface="Times New Roman"/>
              </a:rPr>
              <a:t xml:space="preserve">    </a:t>
            </a:r>
            <a14:m>
              <m:oMath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=</m:t>
                </m:r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{</m:t>
                </m:r>
                <m:r>
                  <m:rPr>
                    <m:sty m:val="i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x</m:t>
                </m:r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,</m:t>
                </m:r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…</m:t>
                </m:r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}</m:t>
                </m:r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,</m:t>
                </m:r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 </m:t>
                </m:r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|</m:t>
                </m:r>
                <m:sSub>
                  <m:sSubPr>
                    <m:ctrl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P</m:t>
                    </m:r>
                  </m:e>
                  <m:sub>
                    <m:r>
                      <m:rPr>
                        <m:sty m:val="p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2</m:t>
                    </m:r>
                  </m:sub>
                </m:sSub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|</m:t>
                </m:r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=</m:t>
                </m:r>
                <m:sSub>
                  <m:sSubPr>
                    <m:ctrl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b</m:t>
                    </m:r>
                  </m:e>
                  <m:sub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P</m:t>
                    </m:r>
                  </m:sub>
                </m:sSub>
              </m:oMath>
            </a14:m>
            <a:endParaRPr lang="en-US" sz="2372"/>
          </a:p>
        </p:txBody>
      </p:sp>
      <p:sp>
        <p:nvSpPr>
          <p:cNvPr id="71" name="parent-slot-1">
            <a:extLst>
              <a:ext uri="{FF2B5EF4-FFF2-40B4-BE49-F238E27FC236}">
                <a16:creationId xmlns:a16="http://schemas.microsoft.com/office/drawing/2014/main" id="{3AC47C71-6615-4B71-A4A3-DA11D49302B3}"/>
              </a:ext>
            </a:extLst>
          </p:cNvPr>
          <p:cNvSpPr>
            <a:spLocks noGrp="1"/>
          </p:cNvSpPr>
          <p:nvPr/>
        </p:nvSpPr>
        <p:spPr>
          <a:xfrm>
            <a:off x="1591786" y="4791075"/>
            <a:ext cx="857250" cy="400050"/>
          </a:xfrm>
          <a:prstGeom prst="roundRect">
            <a:avLst>
              <a:gd name="adj" fmla="val 5881"/>
            </a:avLst>
          </a:prstGeom>
          <a:solidFill>
            <a:srgbClr val="FFFFFF"/>
          </a:solidFill>
          <a:ln w="20086">
            <a:solidFill>
              <a:srgbClr val="B4BEC8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1B2733"/>
                </a:solidFill>
                <a:latin typeface="Times New Roman"/>
                <a:ea typeface="Times New Roman"/>
              </a:defRPr>
            </a:pP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1B2733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1B2733"/>
                        </a:solidFill>
                        <a:latin typeface="Cambria Math"/>
                        <a:ea typeface="Cambria Math"/>
                      </a:rPr>
                      <m:t xml:space="preserve">z</m:t>
                    </m:r>
                  </m:e>
                  <m:sub>
                    <m:r>
                      <m:rPr>
                        <m:sty m:val="p"/>
                      </m:rPr>
                      <a:rPr sz="2372" lang="en-US" b="0" i="0" dirty="0">
                        <a:solidFill>
                          <a:srgbClr val="1B2733"/>
                        </a:solidFill>
                        <a:latin typeface="Cambria Math"/>
                        <a:ea typeface="Cambria Math"/>
                      </a:rPr>
                      <m:t xml:space="preserve">1</m:t>
                    </m:r>
                  </m:sub>
                </m:sSub>
              </m:oMath>
            </a14:m>
            <a:endParaRPr lang="en-US" sz="2372"/>
          </a:p>
        </p:txBody>
      </p:sp>
      <p:cxnSp>
        <p:nvCxnSpPr>
          <p:cNvPr id="72" name="slot-to-batch-1">
            <a:extLst>
              <a:ext uri="{FF2B5EF4-FFF2-40B4-BE49-F238E27FC236}">
                <a16:creationId xmlns:a16="http://schemas.microsoft.com/office/drawing/2014/main" id="{62BA55FA-8291-406B-AAF5-BEDC2D58F2B9}"/>
              </a:ext>
            </a:extLst>
          </p:cNvPr>
          <p:cNvCxnSpPr/>
          <p:nvPr/>
        </p:nvCxnSpPr>
        <p:spPr>
          <a:xfrm>
            <a:off x="2534761" y="4991100"/>
            <a:ext cx="723900" cy="95"/>
          </a:xfrm>
          <a:prstGeom prst="line">
            <a:avLst/>
          </a:prstGeom>
          <a:noFill/>
          <a:ln w="23434" cap="rnd">
            <a:solidFill>
              <a:srgbClr val="1F7A6B"/>
            </a:solidFill>
            <a:prstDash val="solid"/>
            <a:round/>
            <a:headEnd type="none"/>
            <a:tailEnd type="triangle" w="med" len="lg"/>
          </a:ln>
        </p:spPr>
      </p:cxnSp>
      <p:sp>
        <p:nvSpPr>
          <p:cNvPr id="73" name="proposal-batch-chip-0">
            <a:extLst>
              <a:ext uri="{FF2B5EF4-FFF2-40B4-BE49-F238E27FC236}">
                <a16:creationId xmlns:a16="http://schemas.microsoft.com/office/drawing/2014/main" id="{DEA637CD-A923-4223-974C-E233F551FEC5}"/>
              </a:ext>
            </a:extLst>
          </p:cNvPr>
          <p:cNvSpPr>
            <a:spLocks noGrp="1"/>
          </p:cNvSpPr>
          <p:nvPr/>
        </p:nvSpPr>
        <p:spPr>
          <a:xfrm>
            <a:off x="3344386" y="4791075"/>
            <a:ext cx="495300" cy="400050"/>
          </a:xfrm>
          <a:prstGeom prst="roundRect">
            <a:avLst>
              <a:gd name="adj" fmla="val 5881"/>
            </a:avLst>
          </a:prstGeom>
          <a:solidFill>
            <a:srgbClr val="1F7A6B"/>
          </a:solidFill>
          <a:ln w="16738">
            <a:solidFill>
              <a:srgbClr val="1F7A6B"/>
            </a:solidFill>
          </a:ln>
        </p:spPr>
      </p:sp>
      <p:sp>
        <p:nvSpPr>
          <p:cNvPr id="74" name="proposal-batch-equation-0">
            <a:extLst>
              <a:ext uri="{FF2B5EF4-FFF2-40B4-BE49-F238E27FC236}">
                <a16:creationId xmlns:a16="http://schemas.microsoft.com/office/drawing/2014/main" id="{A601A7DF-E4AC-468A-9E31-95630B9CE06B}"/>
              </a:ext>
            </a:extLst>
          </p:cNvPr>
          <p:cNvSpPr>
            <a:spLocks noGrp="1"/>
          </p:cNvSpPr>
          <p:nvPr/>
        </p:nvSpPr>
        <p:spPr>
          <a:xfrm rot="0">
            <a:off x="3382486" y="4810125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 fontAlgn="base">
              <a:defRPr sz="2372" lang="en-US" b="0" i="0" dirty="0">
                <a:solidFill>
                  <a:srgbClr val="5A6775"/>
                </a:solidFill>
                <a:latin typeface="Times New Roman"/>
                <a:ea typeface="Times New Roman"/>
              </a:defRPr>
            </a:pP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FFFFFF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FFFFFF"/>
                        </a:solidFill>
                        <a:latin typeface="Cambria Math"/>
                        <a:ea typeface="Cambria Math"/>
                      </a:rPr>
                      <m:t xml:space="preserve">P</m:t>
                    </m:r>
                  </m:e>
                  <m:sub>
                    <m:r>
                      <m:rPr>
                        <m:sty m:val="p"/>
                      </m:rPr>
                      <a:rPr sz="2372" lang="en-US" b="0" i="0" dirty="0">
                        <a:solidFill>
                          <a:srgbClr val="FFFFFF"/>
                        </a:solidFill>
                        <a:latin typeface="Cambria Math"/>
                        <a:ea typeface="Cambria Math"/>
                      </a:rPr>
                      <m:t xml:space="preserve">0</m:t>
                    </m:r>
                  </m:sub>
                </m:sSub>
              </m:oMath>
            </a14:m>
            <a:r>
              <a:rPr sz="2372" lang="en-US" b="0" i="0" dirty="0">
                <a:solidFill>
                  <a:srgbClr val="5A6775"/>
                </a:solidFill>
                <a:latin typeface="Times New Roman"/>
                <a:ea typeface="Times New Roman"/>
              </a:rPr>
              <a:t xml:space="preserve">    </a:t>
            </a:r>
            <a14:m>
              <m:oMath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=</m:t>
                </m:r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{</m:t>
                </m:r>
                <m:r>
                  <m:rPr>
                    <m:sty m:val="i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x</m:t>
                </m:r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,</m:t>
                </m:r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…</m:t>
                </m:r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}</m:t>
                </m:r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,</m:t>
                </m:r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 </m:t>
                </m:r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|</m:t>
                </m:r>
                <m:sSub>
                  <m:sSubPr>
                    <m:ctrl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P</m:t>
                    </m:r>
                  </m:e>
                  <m:sub>
                    <m:r>
                      <m:rPr>
                        <m:sty m:val="p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0</m:t>
                    </m:r>
                  </m:sub>
                </m:sSub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|</m:t>
                </m:r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=</m:t>
                </m:r>
                <m:sSub>
                  <m:sSubPr>
                    <m:ctrl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b</m:t>
                    </m:r>
                  </m:e>
                  <m:sub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P</m:t>
                    </m:r>
                  </m:sub>
                </m:sSub>
              </m:oMath>
            </a14:m>
            <a:endParaRPr lang="en-US" sz="2372"/>
          </a:p>
        </p:txBody>
      </p:sp>
      <p:sp>
        <p:nvSpPr>
          <p:cNvPr id="75" name="slots-ellipsis--0.1">
            <a:extLst>
              <a:ext uri="{FF2B5EF4-FFF2-40B4-BE49-F238E27FC236}">
                <a16:creationId xmlns:a16="http://schemas.microsoft.com/office/drawing/2014/main" id="{A01D83D1-26CF-4718-A74D-E5FB06BE5441}"/>
              </a:ext>
            </a:extLst>
          </p:cNvPr>
          <p:cNvSpPr>
            <a:spLocks noGrp="1"/>
          </p:cNvSpPr>
          <p:nvPr/>
        </p:nvSpPr>
        <p:spPr>
          <a:xfrm>
            <a:off x="1999456" y="5370195"/>
            <a:ext cx="41910" cy="41910"/>
          </a:xfrm>
          <a:prstGeom prst="ellipse">
            <a:avLst/>
          </a:prstGeom>
          <a:solidFill>
            <a:srgbClr val="1B2733"/>
          </a:solidFill>
          <a:ln w="0">
            <a:noFill/>
          </a:ln>
        </p:spPr>
      </p:sp>
      <p:sp>
        <p:nvSpPr>
          <p:cNvPr id="76" name="batches-ellipsis--0.1">
            <a:extLst>
              <a:ext uri="{FF2B5EF4-FFF2-40B4-BE49-F238E27FC236}">
                <a16:creationId xmlns:a16="http://schemas.microsoft.com/office/drawing/2014/main" id="{47460425-8A34-490B-BF6B-F3BE61EDBE7A}"/>
              </a:ext>
            </a:extLst>
          </p:cNvPr>
          <p:cNvSpPr>
            <a:spLocks noGrp="1"/>
          </p:cNvSpPr>
          <p:nvPr/>
        </p:nvSpPr>
        <p:spPr>
          <a:xfrm>
            <a:off x="3571081" y="5370195"/>
            <a:ext cx="41910" cy="41910"/>
          </a:xfrm>
          <a:prstGeom prst="ellipse">
            <a:avLst/>
          </a:prstGeom>
          <a:solidFill>
            <a:srgbClr val="1F7A6B"/>
          </a:solidFill>
          <a:ln w="0">
            <a:noFill/>
          </a:ln>
        </p:spPr>
      </p:sp>
      <p:sp>
        <p:nvSpPr>
          <p:cNvPr id="77" name="slots-ellipsis-0">
            <a:extLst>
              <a:ext uri="{FF2B5EF4-FFF2-40B4-BE49-F238E27FC236}">
                <a16:creationId xmlns:a16="http://schemas.microsoft.com/office/drawing/2014/main" id="{93756ECC-350D-4A6C-B331-4518D8640636}"/>
              </a:ext>
            </a:extLst>
          </p:cNvPr>
          <p:cNvSpPr>
            <a:spLocks noGrp="1"/>
          </p:cNvSpPr>
          <p:nvPr/>
        </p:nvSpPr>
        <p:spPr>
          <a:xfrm>
            <a:off x="1999456" y="5274945"/>
            <a:ext cx="41910" cy="41910"/>
          </a:xfrm>
          <a:prstGeom prst="ellipse">
            <a:avLst/>
          </a:prstGeom>
          <a:solidFill>
            <a:srgbClr val="1B2733"/>
          </a:solidFill>
          <a:ln w="0">
            <a:noFill/>
          </a:ln>
        </p:spPr>
      </p:sp>
      <p:sp>
        <p:nvSpPr>
          <p:cNvPr id="78" name="batches-ellipsis-0">
            <a:extLst>
              <a:ext uri="{FF2B5EF4-FFF2-40B4-BE49-F238E27FC236}">
                <a16:creationId xmlns:a16="http://schemas.microsoft.com/office/drawing/2014/main" id="{E3096B12-57E4-4FE4-927C-5D12B639D988}"/>
              </a:ext>
            </a:extLst>
          </p:cNvPr>
          <p:cNvSpPr>
            <a:spLocks noGrp="1"/>
          </p:cNvSpPr>
          <p:nvPr/>
        </p:nvSpPr>
        <p:spPr>
          <a:xfrm>
            <a:off x="3571081" y="5274945"/>
            <a:ext cx="41910" cy="41910"/>
          </a:xfrm>
          <a:prstGeom prst="ellipse">
            <a:avLst/>
          </a:prstGeom>
          <a:solidFill>
            <a:srgbClr val="1F7A6B"/>
          </a:solidFill>
          <a:ln w="0">
            <a:noFill/>
          </a:ln>
        </p:spPr>
      </p:sp>
      <p:sp>
        <p:nvSpPr>
          <p:cNvPr id="79" name="slots-ellipsis-0.1">
            <a:extLst>
              <a:ext uri="{FF2B5EF4-FFF2-40B4-BE49-F238E27FC236}">
                <a16:creationId xmlns:a16="http://schemas.microsoft.com/office/drawing/2014/main" id="{B400227D-2F23-4512-8BC5-1D9A2DC71C58}"/>
              </a:ext>
            </a:extLst>
          </p:cNvPr>
          <p:cNvSpPr>
            <a:spLocks noGrp="1"/>
          </p:cNvSpPr>
          <p:nvPr/>
        </p:nvSpPr>
        <p:spPr>
          <a:xfrm>
            <a:off x="1999456" y="5179695"/>
            <a:ext cx="41910" cy="41910"/>
          </a:xfrm>
          <a:prstGeom prst="ellipse">
            <a:avLst/>
          </a:prstGeom>
          <a:solidFill>
            <a:srgbClr val="1B2733"/>
          </a:solidFill>
          <a:ln w="0">
            <a:noFill/>
          </a:ln>
        </p:spPr>
      </p:sp>
      <p:sp>
        <p:nvSpPr>
          <p:cNvPr id="80" name="batches-ellipsis-0.1">
            <a:extLst>
              <a:ext uri="{FF2B5EF4-FFF2-40B4-BE49-F238E27FC236}">
                <a16:creationId xmlns:a16="http://schemas.microsoft.com/office/drawing/2014/main" id="{017AE30C-925E-453D-B45E-12C729582205}"/>
              </a:ext>
            </a:extLst>
          </p:cNvPr>
          <p:cNvSpPr>
            <a:spLocks noGrp="1"/>
          </p:cNvSpPr>
          <p:nvPr/>
        </p:nvSpPr>
        <p:spPr>
          <a:xfrm>
            <a:off x="3571081" y="5179695"/>
            <a:ext cx="41910" cy="41910"/>
          </a:xfrm>
          <a:prstGeom prst="ellipse">
            <a:avLst/>
          </a:prstGeom>
          <a:solidFill>
            <a:srgbClr val="1F7A6B"/>
          </a:solidFill>
          <a:ln w="0">
            <a:noFill/>
          </a:ln>
        </p:spPr>
      </p:sp>
      <p:sp>
        <p:nvSpPr>
          <p:cNvPr id="81" name="parent-slot-last">
            <a:extLst>
              <a:ext uri="{FF2B5EF4-FFF2-40B4-BE49-F238E27FC236}">
                <a16:creationId xmlns:a16="http://schemas.microsoft.com/office/drawing/2014/main" id="{93F2AF77-4652-4502-8B77-082CC76D57F4}"/>
              </a:ext>
            </a:extLst>
          </p:cNvPr>
          <p:cNvSpPr>
            <a:spLocks noGrp="1"/>
          </p:cNvSpPr>
          <p:nvPr/>
        </p:nvSpPr>
        <p:spPr>
          <a:xfrm>
            <a:off x="1591786" y="5400675"/>
            <a:ext cx="857250" cy="400050"/>
          </a:xfrm>
          <a:prstGeom prst="roundRect">
            <a:avLst>
              <a:gd name="adj" fmla="val 5881"/>
            </a:avLst>
          </a:prstGeom>
          <a:solidFill>
            <a:srgbClr val="FFFFFF"/>
          </a:solidFill>
          <a:ln w="20086">
            <a:solidFill>
              <a:srgbClr val="B4BEC8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1B2733"/>
                </a:solidFill>
                <a:latin typeface="Times New Roman"/>
                <a:ea typeface="Times New Roman"/>
              </a:defRPr>
            </a:pP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1B2733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1B2733"/>
                        </a:solidFill>
                        <a:latin typeface="Cambria Math"/>
                        <a:ea typeface="Cambria Math"/>
                      </a:rPr>
                      <m:t xml:space="preserve">z</m:t>
                    </m:r>
                  </m:e>
                  <m:sub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1B2733"/>
                        </a:solidFill>
                        <a:latin typeface="Cambria Math"/>
                        <a:ea typeface="Cambria Math"/>
                      </a:rPr>
                      <m:t xml:space="preserve">w</m:t>
                    </m:r>
                    <m:r>
                      <m:rPr>
                        <m:sty m:val="p"/>
                      </m:rPr>
                      <a:rPr sz="2372" lang="en-US" b="0" i="0" dirty="0">
                        <a:solidFill>
                          <a:srgbClr val="1B2733"/>
                        </a:solidFill>
                        <a:latin typeface="Cambria Math"/>
                        <a:ea typeface="Cambria Math"/>
                      </a:rPr>
                      <m:t xml:space="preserve">−</m:t>
                    </m:r>
                    <m:r>
                      <m:rPr>
                        <m:sty m:val="p"/>
                      </m:rPr>
                      <a:rPr sz="2372" lang="en-US" b="0" i="0" dirty="0">
                        <a:solidFill>
                          <a:srgbClr val="1B2733"/>
                        </a:solidFill>
                        <a:latin typeface="Cambria Math"/>
                        <a:ea typeface="Cambria Math"/>
                      </a:rPr>
                      <m:t xml:space="preserve">1</m:t>
                    </m:r>
                  </m:sub>
                </m:sSub>
              </m:oMath>
            </a14:m>
            <a:endParaRPr lang="en-US" sz="2372"/>
          </a:p>
        </p:txBody>
      </p:sp>
      <p:cxnSp>
        <p:nvCxnSpPr>
          <p:cNvPr id="82" name="slot-to-batch-last">
            <a:extLst>
              <a:ext uri="{FF2B5EF4-FFF2-40B4-BE49-F238E27FC236}">
                <a16:creationId xmlns:a16="http://schemas.microsoft.com/office/drawing/2014/main" id="{A1D20BB3-20EC-425E-999E-3B5783E942CB}"/>
              </a:ext>
            </a:extLst>
          </p:cNvPr>
          <p:cNvCxnSpPr/>
          <p:nvPr/>
        </p:nvCxnSpPr>
        <p:spPr>
          <a:xfrm>
            <a:off x="2534761" y="5600700"/>
            <a:ext cx="723900" cy="95"/>
          </a:xfrm>
          <a:prstGeom prst="line">
            <a:avLst/>
          </a:prstGeom>
          <a:noFill/>
          <a:ln w="23434" cap="rnd">
            <a:solidFill>
              <a:srgbClr val="1F7A6B"/>
            </a:solidFill>
            <a:prstDash val="solid"/>
            <a:round/>
            <a:headEnd type="none"/>
            <a:tailEnd type="triangle" w="med" len="lg"/>
          </a:ln>
        </p:spPr>
      </p:cxnSp>
      <p:sp>
        <p:nvSpPr>
          <p:cNvPr id="83" name="proposal-batch-j">
            <a:extLst>
              <a:ext uri="{FF2B5EF4-FFF2-40B4-BE49-F238E27FC236}">
                <a16:creationId xmlns:a16="http://schemas.microsoft.com/office/drawing/2014/main" id="{0B30264E-30F5-40EF-BED0-7E990DFCC66B}"/>
              </a:ext>
            </a:extLst>
          </p:cNvPr>
          <p:cNvSpPr>
            <a:spLocks noGrp="1"/>
          </p:cNvSpPr>
          <p:nvPr/>
        </p:nvSpPr>
        <p:spPr>
          <a:xfrm>
            <a:off x="3344386" y="5400675"/>
            <a:ext cx="495300" cy="400050"/>
          </a:xfrm>
          <a:prstGeom prst="roundRect">
            <a:avLst>
              <a:gd name="adj" fmla="val 5881"/>
            </a:avLst>
          </a:prstGeom>
          <a:solidFill>
            <a:srgbClr val="1F7A6B"/>
          </a:solidFill>
          <a:ln w="16738">
            <a:solidFill>
              <a:srgbClr val="1F7A6B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FFFFFF"/>
                </a:solidFill>
                <a:latin typeface="Times New Roman"/>
                <a:ea typeface="Times New Roman"/>
              </a:defRPr>
            </a:pP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FFFFFF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FFFFFF"/>
                        </a:solidFill>
                        <a:latin typeface="Cambria Math"/>
                        <a:ea typeface="Cambria Math"/>
                      </a:rPr>
                      <m:t xml:space="preserve">P</m:t>
                    </m:r>
                  </m:e>
                  <m:sub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FFFFFF"/>
                        </a:solidFill>
                        <a:latin typeface="Cambria Math"/>
                        <a:ea typeface="Cambria Math"/>
                      </a:rPr>
                      <m:t xml:space="preserve">j</m:t>
                    </m:r>
                  </m:sub>
                </m:sSub>
              </m:oMath>
            </a14:m>
            <a:endParaRPr lang="en-US" sz="2372"/>
          </a:p>
        </p:txBody>
      </p:sp>
      <p:sp>
        <p:nvSpPr>
          <p:cNvPr id="84" name="proposal-once">
            <a:extLst>
              <a:ext uri="{FF2B5EF4-FFF2-40B4-BE49-F238E27FC236}">
                <a16:creationId xmlns:a16="http://schemas.microsoft.com/office/drawing/2014/main" id="{7A3B6D6C-CE08-4DA4-BBC8-04C346BD33EC}"/>
              </a:ext>
            </a:extLst>
          </p:cNvPr>
          <p:cNvSpPr>
            <a:spLocks noGrp="1"/>
          </p:cNvSpPr>
          <p:nvPr/>
        </p:nvSpPr>
        <p:spPr>
          <a:xfrm rot="0">
            <a:off x="739299" y="5762625"/>
            <a:ext cx="5715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5A6775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5A6775"/>
                </a:solidFill>
                <a:latin typeface="Times New Roman"/>
                <a:ea typeface="Times New Roman"/>
              </a:rPr>
              <a:t xml:space="preserve">Assign each batch once</a:t>
            </a:r>
            <a:endParaRPr lang="en-US" sz="2372"/>
          </a:p>
        </p:txBody>
      </p:sp>
      <p:sp>
        <p:nvSpPr>
          <p:cNvPr id="85" name="admission-panel">
            <a:extLst>
              <a:ext uri="{FF2B5EF4-FFF2-40B4-BE49-F238E27FC236}">
                <a16:creationId xmlns:a16="http://schemas.microsoft.com/office/drawing/2014/main" id="{D5B1B131-B06B-40CC-91FB-82EF18F8DF40}"/>
              </a:ext>
            </a:extLst>
          </p:cNvPr>
          <p:cNvSpPr>
            <a:spLocks noGrp="1"/>
          </p:cNvSpPr>
          <p:nvPr/>
        </p:nvSpPr>
        <p:spPr>
          <a:xfrm>
            <a:off x="6759099" y="3276600"/>
            <a:ext cx="5981700" cy="2857500"/>
          </a:xfrm>
          <a:prstGeom prst="roundRect">
            <a:avLst>
              <a:gd name="adj" fmla="val 2117"/>
            </a:avLst>
          </a:prstGeom>
          <a:solidFill>
            <a:srgbClr val="FFFFFF"/>
          </a:solidFill>
          <a:ln w="20086">
            <a:solidFill>
              <a:srgbClr val="B4BEC8"/>
            </a:solidFill>
          </a:ln>
        </p:spPr>
      </p:sp>
      <p:sp>
        <p:nvSpPr>
          <p:cNvPr id="86" name="admission-header">
            <a:extLst>
              <a:ext uri="{FF2B5EF4-FFF2-40B4-BE49-F238E27FC236}">
                <a16:creationId xmlns:a16="http://schemas.microsoft.com/office/drawing/2014/main" id="{CD138E18-B777-4363-B9B5-38E9253A60C0}"/>
              </a:ext>
            </a:extLst>
          </p:cNvPr>
          <p:cNvSpPr>
            <a:spLocks noGrp="1"/>
          </p:cNvSpPr>
          <p:nvPr/>
        </p:nvSpPr>
        <p:spPr>
          <a:xfrm>
            <a:off x="6759099" y="3276600"/>
            <a:ext cx="5981700" cy="400050"/>
          </a:xfrm>
          <a:prstGeom prst="roundRect">
            <a:avLst>
              <a:gd name="adj" fmla="val 15119"/>
            </a:avLst>
          </a:prstGeom>
          <a:solidFill>
            <a:srgbClr val="3B5A7A"/>
          </a:solidFill>
          <a:ln w="0">
            <a:noFill/>
          </a:ln>
        </p:spPr>
      </p:sp>
      <p:sp>
        <p:nvSpPr>
          <p:cNvPr id="87" name="admission-header-square-bottom">
            <a:extLst>
              <a:ext uri="{FF2B5EF4-FFF2-40B4-BE49-F238E27FC236}">
                <a16:creationId xmlns:a16="http://schemas.microsoft.com/office/drawing/2014/main" id="{B92B4286-A304-4028-B340-41DD73025E0C}"/>
              </a:ext>
            </a:extLst>
          </p:cNvPr>
          <p:cNvSpPr>
            <a:spLocks noGrp="1"/>
          </p:cNvSpPr>
          <p:nvPr/>
        </p:nvSpPr>
        <p:spPr>
          <a:xfrm>
            <a:off x="6759099" y="3467100"/>
            <a:ext cx="5981700" cy="209550"/>
          </a:xfrm>
          <a:prstGeom prst="rect">
            <a:avLst/>
          </a:prstGeom>
          <a:solidFill>
            <a:srgbClr val="3B5A7A"/>
          </a:solidFill>
          <a:ln w="0">
            <a:noFill/>
          </a:ln>
        </p:spPr>
      </p:sp>
      <p:sp>
        <p:nvSpPr>
          <p:cNvPr id="88" name="admission-step-number">
            <a:extLst>
              <a:ext uri="{FF2B5EF4-FFF2-40B4-BE49-F238E27FC236}">
                <a16:creationId xmlns:a16="http://schemas.microsoft.com/office/drawing/2014/main" id="{D960B00A-57C6-4E98-BD32-4B62591080A8}"/>
              </a:ext>
            </a:extLst>
          </p:cNvPr>
          <p:cNvSpPr>
            <a:spLocks noGrp="1"/>
          </p:cNvSpPr>
          <p:nvPr/>
        </p:nvSpPr>
        <p:spPr>
          <a:xfrm>
            <a:off x="6911499" y="3305175"/>
            <a:ext cx="342900" cy="3429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1" i="0" dirty="0">
                <a:solidFill>
                  <a:srgbClr val="3B5A7A"/>
                </a:solidFill>
                <a:latin typeface="Times New Roman"/>
                <a:ea typeface="Times New Roman"/>
              </a:defRPr>
            </a:pPr>
            <a:r>
              <a:rPr sz="2372" lang="en-US" b="1" i="0" dirty="0">
                <a:solidFill>
                  <a:srgbClr val="3B5A7A"/>
                </a:solidFill>
                <a:latin typeface="Times New Roman"/>
                <a:ea typeface="Times New Roman"/>
              </a:rPr>
              <a:t xml:space="preserve">2</a:t>
            </a:r>
            <a:endParaRPr lang="en-US" sz="2372"/>
          </a:p>
        </p:txBody>
      </p:sp>
      <p:sp>
        <p:nvSpPr>
          <p:cNvPr id="89" name="admission-title">
            <a:extLst>
              <a:ext uri="{FF2B5EF4-FFF2-40B4-BE49-F238E27FC236}">
                <a16:creationId xmlns:a16="http://schemas.microsoft.com/office/drawing/2014/main" id="{370237EF-82D6-403B-9DE8-9FD2C5019D32}"/>
              </a:ext>
            </a:extLst>
          </p:cNvPr>
          <p:cNvSpPr>
            <a:spLocks noGrp="1"/>
          </p:cNvSpPr>
          <p:nvPr/>
        </p:nvSpPr>
        <p:spPr>
          <a:xfrm rot="0">
            <a:off x="7340124" y="3295650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 fontAlgn="base">
              <a:defRPr sz="2504" lang="en-US" b="1" i="0" dirty="0">
                <a:solidFill>
                  <a:srgbClr val="FFFFFF"/>
                </a:solidFill>
                <a:latin typeface="Times New Roman"/>
                <a:ea typeface="Times New Roman"/>
              </a:defRPr>
            </a:pPr>
            <a:r>
              <a:rPr sz="2504" lang="en-US" b="1" i="0" dirty="0">
                <a:solidFill>
                  <a:srgbClr val="FFFFFF"/>
                </a:solidFill>
                <a:latin typeface="Times New Roman"/>
                <a:ea typeface="Times New Roman"/>
              </a:rPr>
              <a:t xml:space="preserve">Evaluate skills</a:t>
            </a:r>
            <a:endParaRPr lang="en-US" sz="2504"/>
          </a:p>
        </p:txBody>
      </p:sp>
      <p:sp>
        <p:nvSpPr>
          <p:cNvPr id="90" name="admission-header-map">
            <a:extLst>
              <a:ext uri="{FF2B5EF4-FFF2-40B4-BE49-F238E27FC236}">
                <a16:creationId xmlns:a16="http://schemas.microsoft.com/office/drawing/2014/main" id="{50FFBAB9-5612-4A8E-A106-FD2E52650562}"/>
              </a:ext>
            </a:extLst>
          </p:cNvPr>
          <p:cNvSpPr>
            <a:spLocks noGrp="1"/>
          </p:cNvSpPr>
          <p:nvPr/>
        </p:nvSpPr>
        <p:spPr>
          <a:xfrm rot="0">
            <a:off x="10483374" y="3295650"/>
            <a:ext cx="21145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 fontAlgn="base">
              <a:defRPr sz="2372" lang="en-US" b="0" i="0" dirty="0">
                <a:solidFill>
                  <a:srgbClr val="EBF0F6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EBF0F6"/>
                </a:solidFill>
                <a:latin typeface="Times New Roman"/>
                <a:ea typeface="Times New Roman"/>
              </a:rPr>
              <a:t xml:space="preserve">Task       batch</a:t>
            </a:r>
            <a:endParaRPr lang="en-US" sz="2372"/>
          </a:p>
        </p:txBody>
      </p:sp>
      <p:cxnSp>
        <p:nvCxnSpPr>
          <p:cNvPr id="91" name="admission-header-native-arrow">
            <a:extLst>
              <a:ext uri="{FF2B5EF4-FFF2-40B4-BE49-F238E27FC236}">
                <a16:creationId xmlns:a16="http://schemas.microsoft.com/office/drawing/2014/main" id="{C2B1B17C-FC1D-469D-8C8E-4ACA2D5822E2}"/>
              </a:ext>
            </a:extLst>
          </p:cNvPr>
          <p:cNvCxnSpPr/>
          <p:nvPr/>
        </p:nvCxnSpPr>
        <p:spPr>
          <a:xfrm>
            <a:off x="11526361" y="3476625"/>
            <a:ext cx="352425" cy="95"/>
          </a:xfrm>
          <a:prstGeom prst="line">
            <a:avLst/>
          </a:prstGeom>
          <a:noFill/>
          <a:ln w="16738" cap="rnd">
            <a:solidFill>
              <a:srgbClr val="EBF0F6"/>
            </a:solidFill>
            <a:prstDash val="solid"/>
            <a:round/>
            <a:headEnd type="none"/>
            <a:tailEnd type="triangle" w="med" len="lg"/>
          </a:ln>
        </p:spPr>
      </p:cxnSp>
      <p:sp>
        <p:nvSpPr>
          <p:cNvPr id="92" name="admission-sampling">
            <a:extLst>
              <a:ext uri="{FF2B5EF4-FFF2-40B4-BE49-F238E27FC236}">
                <a16:creationId xmlns:a16="http://schemas.microsoft.com/office/drawing/2014/main" id="{1662B865-8E46-4D74-9B17-46CA71AF03AE}"/>
              </a:ext>
            </a:extLst>
          </p:cNvPr>
          <p:cNvSpPr>
            <a:spLocks noGrp="1"/>
          </p:cNvSpPr>
          <p:nvPr/>
        </p:nvSpPr>
        <p:spPr>
          <a:xfrm rot="0">
            <a:off x="6835299" y="3762375"/>
            <a:ext cx="58293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5A6775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5A6775"/>
                </a:solidFill>
                <a:latin typeface="Times New Roman"/>
                <a:ea typeface="Times New Roman"/>
              </a:rPr>
              <a:t xml:space="preserve">Sample </a:t>
            </a: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A</m:t>
                    </m:r>
                  </m:e>
                  <m:sub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i</m:t>
                    </m:r>
                  </m:sub>
                </m:sSub>
              </m:oMath>
            </a14:m>
            <a:r>
              <a:rPr sz="2372" lang="en-US" b="0" i="0" dirty="0">
                <a:solidFill>
                  <a:srgbClr val="5A6775"/>
                </a:solidFill>
                <a:latin typeface="Times New Roman"/>
                <a:ea typeface="Times New Roman"/>
              </a:rPr>
              <a:t xml:space="preserve">, select references by </a:t>
            </a: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G</m:t>
                    </m:r>
                  </m:e>
                  <m:sub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s</m:t>
                    </m:r>
                  </m:sub>
                </m:sSub>
              </m:oMath>
            </a14:m>
            <a:endParaRPr lang="en-US" sz="2372"/>
          </a:p>
        </p:txBody>
      </p:sp>
      <p:sp>
        <p:nvSpPr>
          <p:cNvPr id="93" name="admission-equation-1">
            <a:extLst>
              <a:ext uri="{FF2B5EF4-FFF2-40B4-BE49-F238E27FC236}">
                <a16:creationId xmlns:a16="http://schemas.microsoft.com/office/drawing/2014/main" id="{4C517925-3D46-4EA5-9141-4C43EC0D66D9}"/>
              </a:ext>
            </a:extLst>
          </p:cNvPr>
          <p:cNvSpPr>
            <a:spLocks noGrp="1"/>
          </p:cNvSpPr>
          <p:nvPr/>
        </p:nvSpPr>
        <p:spPr>
          <a:xfrm rot="0">
            <a:off x="6835299" y="4162425"/>
            <a:ext cx="58293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5A6775"/>
                </a:solidFill>
                <a:latin typeface="Times New Roman"/>
                <a:ea typeface="Times New Roman"/>
              </a:defRPr>
            </a:pP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A</m:t>
                    </m:r>
                  </m:e>
                  <m:sub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i</m:t>
                    </m:r>
                  </m:sub>
                </m:sSub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∩</m:t>
                </m:r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 </m:t>
                </m:r>
                <m:r>
                  <m:rPr>
                    <m:sty m:val="i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X</m:t>
                </m:r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(</m:t>
                </m:r>
                <m:sSub>
                  <m:sSubPr>
                    <m:ctrl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s</m:t>
                    </m:r>
                  </m:e>
                  <m:sub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i</m:t>
                    </m:r>
                  </m:sub>
                </m:sSub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,</m:t>
                </m:r>
                <m:sSub>
                  <m:sSubPr>
                    <m:ctrl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P</m:t>
                    </m:r>
                  </m:e>
                  <m:sub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i</m:t>
                    </m:r>
                  </m:sub>
                </m:sSub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)</m:t>
                </m:r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=</m:t>
                </m:r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∅</m:t>
                </m:r>
              </m:oMath>
            </a14:m>
            <a:r>
              <a:rPr sz="2372" lang="en-US" b="0" i="0" dirty="0">
                <a:solidFill>
                  <a:srgbClr val="5A6775"/>
                </a:solidFill>
                <a:latin typeface="Times New Roman"/>
                <a:ea typeface="Times New Roman"/>
              </a:rPr>
              <a:t xml:space="preserve">  (Eq. (1))</a:t>
            </a:r>
            <a:endParaRPr lang="en-US" sz="2372"/>
          </a:p>
        </p:txBody>
      </p:sp>
      <p:sp>
        <p:nvSpPr>
          <p:cNvPr id="94" name="admission-task-1">
            <a:extLst>
              <a:ext uri="{FF2B5EF4-FFF2-40B4-BE49-F238E27FC236}">
                <a16:creationId xmlns:a16="http://schemas.microsoft.com/office/drawing/2014/main" id="{8698F52C-3CDF-4E2D-A5C0-09620D9BA5D6}"/>
              </a:ext>
            </a:extLst>
          </p:cNvPr>
          <p:cNvSpPr>
            <a:spLocks noGrp="1"/>
          </p:cNvSpPr>
          <p:nvPr/>
        </p:nvSpPr>
        <p:spPr>
          <a:xfrm>
            <a:off x="7792561" y="4543425"/>
            <a:ext cx="552450" cy="400050"/>
          </a:xfrm>
          <a:prstGeom prst="roundRect">
            <a:avLst>
              <a:gd name="adj" fmla="val 5881"/>
            </a:avLst>
          </a:prstGeom>
          <a:solidFill>
            <a:srgbClr val="F3F4F5"/>
          </a:solidFill>
          <a:ln w="20086">
            <a:solidFill>
              <a:srgbClr val="B4BEC8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1B2733"/>
                </a:solidFill>
                <a:latin typeface="Times New Roman"/>
                <a:ea typeface="Times New Roman"/>
              </a:defRPr>
            </a:pP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1B2733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1B2733"/>
                        </a:solidFill>
                        <a:latin typeface="Cambria Math"/>
                        <a:ea typeface="Cambria Math"/>
                      </a:rPr>
                      <m:t xml:space="preserve">t</m:t>
                    </m:r>
                  </m:e>
                  <m:sub>
                    <m:r>
                      <m:rPr>
                        <m:sty m:val="p"/>
                      </m:rPr>
                      <a:rPr sz="2372" lang="en-US" b="0" i="0" dirty="0">
                        <a:solidFill>
                          <a:srgbClr val="1B2733"/>
                        </a:solidFill>
                        <a:latin typeface="Cambria Math"/>
                        <a:ea typeface="Cambria Math"/>
                      </a:rPr>
                      <m:t xml:space="preserve">1</m:t>
                    </m:r>
                  </m:sub>
                </m:sSub>
              </m:oMath>
            </a14:m>
            <a:endParaRPr lang="en-US" sz="2372"/>
          </a:p>
        </p:txBody>
      </p:sp>
      <p:cxnSp>
        <p:nvCxnSpPr>
          <p:cNvPr id="95" name="task-to-instances-1">
            <a:extLst>
              <a:ext uri="{FF2B5EF4-FFF2-40B4-BE49-F238E27FC236}">
                <a16:creationId xmlns:a16="http://schemas.microsoft.com/office/drawing/2014/main" id="{262C2964-8239-4EB8-B189-662CD1901FCC}"/>
              </a:ext>
            </a:extLst>
          </p:cNvPr>
          <p:cNvCxnSpPr/>
          <p:nvPr/>
        </p:nvCxnSpPr>
        <p:spPr>
          <a:xfrm>
            <a:off x="8478361" y="4743450"/>
            <a:ext cx="666750" cy="95"/>
          </a:xfrm>
          <a:prstGeom prst="line">
            <a:avLst/>
          </a:prstGeom>
          <a:noFill/>
          <a:ln w="23434" cap="rnd">
            <a:solidFill>
              <a:srgbClr val="3B5A7A"/>
            </a:solidFill>
            <a:prstDash val="solid"/>
            <a:round/>
            <a:headEnd type="none"/>
            <a:tailEnd type="triangle" w="med" len="lg"/>
          </a:ln>
        </p:spPr>
      </p:cxnSp>
      <p:sp>
        <p:nvSpPr>
          <p:cNvPr id="96" name="admission-1-instance-5">
            <a:extLst>
              <a:ext uri="{FF2B5EF4-FFF2-40B4-BE49-F238E27FC236}">
                <a16:creationId xmlns:a16="http://schemas.microsoft.com/office/drawing/2014/main" id="{92615858-CBC6-41F4-962A-D27E2C0DD42E}"/>
              </a:ext>
            </a:extLst>
          </p:cNvPr>
          <p:cNvSpPr>
            <a:spLocks noGrp="1"/>
          </p:cNvSpPr>
          <p:nvPr/>
        </p:nvSpPr>
        <p:spPr>
          <a:xfrm>
            <a:off x="9240361" y="4543425"/>
            <a:ext cx="419100" cy="400050"/>
          </a:xfrm>
          <a:prstGeom prst="roundRect">
            <a:avLst>
              <a:gd name="adj" fmla="val 5881"/>
            </a:avLst>
          </a:prstGeom>
          <a:solidFill>
            <a:srgbClr val="FFFFFF"/>
          </a:solidFill>
          <a:ln w="23434">
            <a:solidFill>
              <a:srgbClr val="3B5A7A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3B5A7A"/>
                </a:solidFill>
                <a:latin typeface="Times New Roman"/>
                <a:ea typeface="Times New Roman"/>
              </a:defRPr>
            </a:pP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3B5A7A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3B5A7A"/>
                        </a:solidFill>
                        <a:latin typeface="Cambria Math"/>
                        <a:ea typeface="Cambria Math"/>
                      </a:rPr>
                      <m:t xml:space="preserve">x</m:t>
                    </m:r>
                  </m:e>
                  <m:sub>
                    <m:r>
                      <m:rPr>
                        <m:sty m:val="p"/>
                      </m:rPr>
                      <a:rPr sz="2372" lang="en-US" b="0" i="0" dirty="0">
                        <a:solidFill>
                          <a:srgbClr val="3B5A7A"/>
                        </a:solidFill>
                        <a:latin typeface="Cambria Math"/>
                        <a:ea typeface="Cambria Math"/>
                      </a:rPr>
                      <m:t xml:space="preserve">5</m:t>
                    </m:r>
                  </m:sub>
                </m:sSub>
              </m:oMath>
            </a14:m>
            <a:endParaRPr lang="en-US" sz="2372"/>
          </a:p>
        </p:txBody>
      </p:sp>
      <p:sp>
        <p:nvSpPr>
          <p:cNvPr id="97" name="admission-1-instance-6">
            <a:extLst>
              <a:ext uri="{FF2B5EF4-FFF2-40B4-BE49-F238E27FC236}">
                <a16:creationId xmlns:a16="http://schemas.microsoft.com/office/drawing/2014/main" id="{8CA10B3D-59B5-4C0A-879E-6366C5E6D42F}"/>
              </a:ext>
            </a:extLst>
          </p:cNvPr>
          <p:cNvSpPr>
            <a:spLocks noGrp="1"/>
          </p:cNvSpPr>
          <p:nvPr/>
        </p:nvSpPr>
        <p:spPr>
          <a:xfrm>
            <a:off x="9697561" y="4543425"/>
            <a:ext cx="419100" cy="400050"/>
          </a:xfrm>
          <a:prstGeom prst="roundRect">
            <a:avLst>
              <a:gd name="adj" fmla="val 5881"/>
            </a:avLst>
          </a:prstGeom>
          <a:solidFill>
            <a:srgbClr val="FFFFFF"/>
          </a:solidFill>
          <a:ln w="23434">
            <a:solidFill>
              <a:srgbClr val="3B5A7A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3B5A7A"/>
                </a:solidFill>
                <a:latin typeface="Times New Roman"/>
                <a:ea typeface="Times New Roman"/>
              </a:defRPr>
            </a:pP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3B5A7A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3B5A7A"/>
                        </a:solidFill>
                        <a:latin typeface="Cambria Math"/>
                        <a:ea typeface="Cambria Math"/>
                      </a:rPr>
                      <m:t xml:space="preserve">x</m:t>
                    </m:r>
                  </m:e>
                  <m:sub>
                    <m:r>
                      <m:rPr>
                        <m:sty m:val="p"/>
                      </m:rPr>
                      <a:rPr sz="2372" lang="en-US" b="0" i="0" dirty="0">
                        <a:solidFill>
                          <a:srgbClr val="3B5A7A"/>
                        </a:solidFill>
                        <a:latin typeface="Cambria Math"/>
                        <a:ea typeface="Cambria Math"/>
                      </a:rPr>
                      <m:t xml:space="preserve">6</m:t>
                    </m:r>
                  </m:sub>
                </m:sSub>
              </m:oMath>
            </a14:m>
            <a:endParaRPr lang="en-US" sz="2372"/>
          </a:p>
        </p:txBody>
      </p:sp>
      <p:sp>
        <p:nvSpPr>
          <p:cNvPr id="98" name="admission-1-ellipsis">
            <a:extLst>
              <a:ext uri="{FF2B5EF4-FFF2-40B4-BE49-F238E27FC236}">
                <a16:creationId xmlns:a16="http://schemas.microsoft.com/office/drawing/2014/main" id="{5659BC4F-C50D-45BB-9204-19FE93726CE9}"/>
              </a:ext>
            </a:extLst>
          </p:cNvPr>
          <p:cNvSpPr>
            <a:spLocks noGrp="1"/>
          </p:cNvSpPr>
          <p:nvPr/>
        </p:nvSpPr>
        <p:spPr>
          <a:xfrm rot="0">
            <a:off x="10097611" y="4581525"/>
            <a:ext cx="381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3B5A7A"/>
                </a:solidFill>
                <a:latin typeface="Times New Roman"/>
                <a:ea typeface="Times New Roman"/>
              </a:defRPr>
            </a:pPr>
            <a14:m>
              <m:oMath>
                <m:r>
                  <m:rPr>
                    <m:sty m:val="p"/>
                  </m:rPr>
                  <a:rPr sz="2372" lang="en-US" b="0" i="0" dirty="0">
                    <a:solidFill>
                      <a:srgbClr val="3B5A7A"/>
                    </a:solidFill>
                    <a:latin typeface="Cambria Math"/>
                    <a:ea typeface="Cambria Math"/>
                  </a:rPr>
                  <m:t xml:space="preserve">⋯</m:t>
                </m:r>
              </m:oMath>
            </a14:m>
            <a:endParaRPr lang="en-US" sz="2372"/>
          </a:p>
        </p:txBody>
      </p:sp>
      <p:sp>
        <p:nvSpPr>
          <p:cNvPr id="99" name="admission-1-check">
            <a:extLst>
              <a:ext uri="{FF2B5EF4-FFF2-40B4-BE49-F238E27FC236}">
                <a16:creationId xmlns:a16="http://schemas.microsoft.com/office/drawing/2014/main" id="{2A4CB515-552E-4805-B86D-DB13E411068E}"/>
              </a:ext>
            </a:extLst>
          </p:cNvPr>
          <p:cNvSpPr/>
          <p:nvPr/>
        </p:nvSpPr>
        <p:spPr>
          <a:xfrm>
            <a:off x="10545286" y="4619625"/>
            <a:ext cx="361950" cy="247650"/>
          </a:xfrm>
          <a:custGeom>
            <a:avLst/>
            <a:gdLst/>
            <a:ahLst/>
            <a:cxnLst/>
            <a:rect l="0" t="0" r="r" b="b"/>
            <a:pathLst>
              <a:path w="361950" h="247650" fill="none" stroke="1" extrusionOk="0">
                <a:moveTo>
                  <a:pt x="0" y="142875"/>
                </a:moveTo>
                <a:lnTo>
                  <a:pt x="123825" y="247650"/>
                </a:lnTo>
                <a:lnTo>
                  <a:pt x="361950" y="0"/>
                </a:lnTo>
              </a:path>
            </a:pathLst>
          </a:custGeom>
          <a:noFill/>
          <a:ln w="30129" cap="rnd">
            <a:solidFill>
              <a:srgbClr val="1F7A6B"/>
            </a:solidFill>
            <a:prstDash val="solid"/>
            <a:round/>
            <a:headEnd type="none"/>
            <a:tailEnd type="none" w="med" len="lg"/>
          </a:ln>
        </p:spPr>
      </p:sp>
      <p:sp>
        <p:nvSpPr>
          <p:cNvPr id="100" name="admission-1-use">
            <a:extLst>
              <a:ext uri="{FF2B5EF4-FFF2-40B4-BE49-F238E27FC236}">
                <a16:creationId xmlns:a16="http://schemas.microsoft.com/office/drawing/2014/main" id="{4F55157A-712A-4872-A013-E7D412025687}"/>
              </a:ext>
            </a:extLst>
          </p:cNvPr>
          <p:cNvSpPr>
            <a:spLocks noGrp="1"/>
          </p:cNvSpPr>
          <p:nvPr/>
        </p:nvSpPr>
        <p:spPr>
          <a:xfrm rot="0">
            <a:off x="11021536" y="4562475"/>
            <a:ext cx="1524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 fontAlgn="base">
              <a:defRPr sz="2372" lang="en-US" b="0" i="0" dirty="0">
                <a:solidFill>
                  <a:srgbClr val="1F7A6B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1F7A6B"/>
                </a:solidFill>
                <a:latin typeface="Times New Roman"/>
                <a:ea typeface="Times New Roman"/>
              </a:rPr>
              <a:t xml:space="preserve">Use </a:t>
            </a: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1F7A6B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1F7A6B"/>
                        </a:solidFill>
                        <a:latin typeface="Cambria Math"/>
                        <a:ea typeface="Cambria Math"/>
                      </a:rPr>
                      <m:t xml:space="preserve">A</m:t>
                    </m:r>
                  </m:e>
                  <m:sub>
                    <m:r>
                      <m:rPr>
                        <m:sty m:val="p"/>
                      </m:rPr>
                      <a:rPr sz="2372" lang="en-US" b="0" i="0" dirty="0">
                        <a:solidFill>
                          <a:srgbClr val="1F7A6B"/>
                        </a:solidFill>
                        <a:latin typeface="Cambria Math"/>
                        <a:ea typeface="Cambria Math"/>
                      </a:rPr>
                      <m:t xml:space="preserve">1</m:t>
                    </m:r>
                  </m:sub>
                </m:sSub>
              </m:oMath>
            </a14:m>
            <a:endParaRPr lang="en-US" sz="2372"/>
          </a:p>
        </p:txBody>
      </p:sp>
      <p:sp>
        <p:nvSpPr>
          <p:cNvPr id="101" name="admission-task-2">
            <a:extLst>
              <a:ext uri="{FF2B5EF4-FFF2-40B4-BE49-F238E27FC236}">
                <a16:creationId xmlns:a16="http://schemas.microsoft.com/office/drawing/2014/main" id="{AE33B90B-D7D3-4283-808A-FC705221D3BD}"/>
              </a:ext>
            </a:extLst>
          </p:cNvPr>
          <p:cNvSpPr>
            <a:spLocks noGrp="1"/>
          </p:cNvSpPr>
          <p:nvPr/>
        </p:nvSpPr>
        <p:spPr>
          <a:xfrm>
            <a:off x="7792561" y="4943475"/>
            <a:ext cx="552450" cy="400050"/>
          </a:xfrm>
          <a:prstGeom prst="roundRect">
            <a:avLst>
              <a:gd name="adj" fmla="val 5881"/>
            </a:avLst>
          </a:prstGeom>
          <a:solidFill>
            <a:srgbClr val="F3F4F5"/>
          </a:solidFill>
          <a:ln w="20086">
            <a:solidFill>
              <a:srgbClr val="B4BEC8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1B2733"/>
                </a:solidFill>
                <a:latin typeface="Times New Roman"/>
                <a:ea typeface="Times New Roman"/>
              </a:defRPr>
            </a:pP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1B2733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1B2733"/>
                        </a:solidFill>
                        <a:latin typeface="Cambria Math"/>
                        <a:ea typeface="Cambria Math"/>
                      </a:rPr>
                      <m:t xml:space="preserve">t</m:t>
                    </m:r>
                  </m:e>
                  <m:sub>
                    <m:r>
                      <m:rPr>
                        <m:sty m:val="p"/>
                      </m:rPr>
                      <a:rPr sz="2372" lang="en-US" b="0" i="0" dirty="0">
                        <a:solidFill>
                          <a:srgbClr val="1B2733"/>
                        </a:solidFill>
                        <a:latin typeface="Cambria Math"/>
                        <a:ea typeface="Cambria Math"/>
                      </a:rPr>
                      <m:t xml:space="preserve">2</m:t>
                    </m:r>
                  </m:sub>
                </m:sSub>
              </m:oMath>
            </a14:m>
            <a:endParaRPr lang="en-US" sz="2372"/>
          </a:p>
        </p:txBody>
      </p:sp>
      <p:cxnSp>
        <p:nvCxnSpPr>
          <p:cNvPr id="102" name="task-to-instances-2">
            <a:extLst>
              <a:ext uri="{FF2B5EF4-FFF2-40B4-BE49-F238E27FC236}">
                <a16:creationId xmlns:a16="http://schemas.microsoft.com/office/drawing/2014/main" id="{EA6A0413-FFF5-4C03-8E71-E6B5577FB096}"/>
              </a:ext>
            </a:extLst>
          </p:cNvPr>
          <p:cNvCxnSpPr/>
          <p:nvPr/>
        </p:nvCxnSpPr>
        <p:spPr>
          <a:xfrm>
            <a:off x="8478361" y="5143500"/>
            <a:ext cx="666750" cy="95"/>
          </a:xfrm>
          <a:prstGeom prst="line">
            <a:avLst/>
          </a:prstGeom>
          <a:noFill/>
          <a:ln w="23434" cap="rnd">
            <a:solidFill>
              <a:srgbClr val="3B5A7A"/>
            </a:solidFill>
            <a:prstDash val="solid"/>
            <a:round/>
            <a:headEnd type="none"/>
            <a:tailEnd type="triangle" w="med" len="lg"/>
          </a:ln>
        </p:spPr>
      </p:cxnSp>
      <p:sp>
        <p:nvSpPr>
          <p:cNvPr id="103" name="admission-2-instance-8">
            <a:extLst>
              <a:ext uri="{FF2B5EF4-FFF2-40B4-BE49-F238E27FC236}">
                <a16:creationId xmlns:a16="http://schemas.microsoft.com/office/drawing/2014/main" id="{C1B3BF09-4C8D-41CF-8D8B-4F7C92232B15}"/>
              </a:ext>
            </a:extLst>
          </p:cNvPr>
          <p:cNvSpPr>
            <a:spLocks noGrp="1"/>
          </p:cNvSpPr>
          <p:nvPr/>
        </p:nvSpPr>
        <p:spPr>
          <a:xfrm>
            <a:off x="9240361" y="4943475"/>
            <a:ext cx="419100" cy="400050"/>
          </a:xfrm>
          <a:prstGeom prst="roundRect">
            <a:avLst>
              <a:gd name="adj" fmla="val 5881"/>
            </a:avLst>
          </a:prstGeom>
          <a:solidFill>
            <a:srgbClr val="FFFFFF"/>
          </a:solidFill>
          <a:ln w="23434">
            <a:solidFill>
              <a:srgbClr val="3B5A7A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3B5A7A"/>
                </a:solidFill>
                <a:latin typeface="Times New Roman"/>
                <a:ea typeface="Times New Roman"/>
              </a:defRPr>
            </a:pP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3B5A7A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3B5A7A"/>
                        </a:solidFill>
                        <a:latin typeface="Cambria Math"/>
                        <a:ea typeface="Cambria Math"/>
                      </a:rPr>
                      <m:t xml:space="preserve">x</m:t>
                    </m:r>
                  </m:e>
                  <m:sub>
                    <m:r>
                      <m:rPr>
                        <m:sty m:val="p"/>
                      </m:rPr>
                      <a:rPr sz="2372" lang="en-US" b="0" i="0" dirty="0">
                        <a:solidFill>
                          <a:srgbClr val="3B5A7A"/>
                        </a:solidFill>
                        <a:latin typeface="Cambria Math"/>
                        <a:ea typeface="Cambria Math"/>
                      </a:rPr>
                      <m:t xml:space="preserve">8</m:t>
                    </m:r>
                  </m:sub>
                </m:sSub>
              </m:oMath>
            </a14:m>
            <a:endParaRPr lang="en-US" sz="2372"/>
          </a:p>
        </p:txBody>
      </p:sp>
      <p:sp>
        <p:nvSpPr>
          <p:cNvPr id="104" name="admission-2-instance-9">
            <a:extLst>
              <a:ext uri="{FF2B5EF4-FFF2-40B4-BE49-F238E27FC236}">
                <a16:creationId xmlns:a16="http://schemas.microsoft.com/office/drawing/2014/main" id="{9DFED8E2-7CED-4521-84D3-D7B05E8DC7CB}"/>
              </a:ext>
            </a:extLst>
          </p:cNvPr>
          <p:cNvSpPr>
            <a:spLocks noGrp="1"/>
          </p:cNvSpPr>
          <p:nvPr/>
        </p:nvSpPr>
        <p:spPr>
          <a:xfrm>
            <a:off x="9697561" y="4943475"/>
            <a:ext cx="419100" cy="400050"/>
          </a:xfrm>
          <a:prstGeom prst="roundRect">
            <a:avLst>
              <a:gd name="adj" fmla="val 5881"/>
            </a:avLst>
          </a:prstGeom>
          <a:solidFill>
            <a:srgbClr val="FFFFFF"/>
          </a:solidFill>
          <a:ln w="23434">
            <a:solidFill>
              <a:srgbClr val="3B5A7A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3B5A7A"/>
                </a:solidFill>
                <a:latin typeface="Times New Roman"/>
                <a:ea typeface="Times New Roman"/>
              </a:defRPr>
            </a:pP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3B5A7A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3B5A7A"/>
                        </a:solidFill>
                        <a:latin typeface="Cambria Math"/>
                        <a:ea typeface="Cambria Math"/>
                      </a:rPr>
                      <m:t xml:space="preserve">x</m:t>
                    </m:r>
                  </m:e>
                  <m:sub>
                    <m:r>
                      <m:rPr>
                        <m:sty m:val="p"/>
                      </m:rPr>
                      <a:rPr sz="2372" lang="en-US" b="0" i="0" dirty="0">
                        <a:solidFill>
                          <a:srgbClr val="3B5A7A"/>
                        </a:solidFill>
                        <a:latin typeface="Cambria Math"/>
                        <a:ea typeface="Cambria Math"/>
                      </a:rPr>
                      <m:t xml:space="preserve">9</m:t>
                    </m:r>
                  </m:sub>
                </m:sSub>
              </m:oMath>
            </a14:m>
            <a:endParaRPr lang="en-US" sz="2372"/>
          </a:p>
        </p:txBody>
      </p:sp>
      <p:sp>
        <p:nvSpPr>
          <p:cNvPr id="105" name="admission-2-ellipsis">
            <a:extLst>
              <a:ext uri="{FF2B5EF4-FFF2-40B4-BE49-F238E27FC236}">
                <a16:creationId xmlns:a16="http://schemas.microsoft.com/office/drawing/2014/main" id="{C9CC539C-D94B-4EF9-84FC-0604E5354B6F}"/>
              </a:ext>
            </a:extLst>
          </p:cNvPr>
          <p:cNvSpPr>
            <a:spLocks noGrp="1"/>
          </p:cNvSpPr>
          <p:nvPr/>
        </p:nvSpPr>
        <p:spPr>
          <a:xfrm rot="0">
            <a:off x="10097611" y="4981575"/>
            <a:ext cx="381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3B5A7A"/>
                </a:solidFill>
                <a:latin typeface="Times New Roman"/>
                <a:ea typeface="Times New Roman"/>
              </a:defRPr>
            </a:pPr>
            <a14:m>
              <m:oMath>
                <m:r>
                  <m:rPr>
                    <m:sty m:val="p"/>
                  </m:rPr>
                  <a:rPr sz="2372" lang="en-US" b="0" i="0" dirty="0">
                    <a:solidFill>
                      <a:srgbClr val="3B5A7A"/>
                    </a:solidFill>
                    <a:latin typeface="Cambria Math"/>
                    <a:ea typeface="Cambria Math"/>
                  </a:rPr>
                  <m:t xml:space="preserve">⋯</m:t>
                </m:r>
              </m:oMath>
            </a14:m>
            <a:endParaRPr lang="en-US" sz="2372"/>
          </a:p>
        </p:txBody>
      </p:sp>
      <p:sp>
        <p:nvSpPr>
          <p:cNvPr id="106" name="admission-2-check">
            <a:extLst>
              <a:ext uri="{FF2B5EF4-FFF2-40B4-BE49-F238E27FC236}">
                <a16:creationId xmlns:a16="http://schemas.microsoft.com/office/drawing/2014/main" id="{1E854C0A-F1CA-49D1-8FE1-6D527BBE138C}"/>
              </a:ext>
            </a:extLst>
          </p:cNvPr>
          <p:cNvSpPr/>
          <p:nvPr/>
        </p:nvSpPr>
        <p:spPr>
          <a:xfrm>
            <a:off x="10545286" y="5019675"/>
            <a:ext cx="361950" cy="247650"/>
          </a:xfrm>
          <a:custGeom>
            <a:avLst/>
            <a:gdLst/>
            <a:ahLst/>
            <a:cxnLst/>
            <a:rect l="0" t="0" r="r" b="b"/>
            <a:pathLst>
              <a:path w="361950" h="247650" fill="none" stroke="1" extrusionOk="0">
                <a:moveTo>
                  <a:pt x="0" y="142875"/>
                </a:moveTo>
                <a:lnTo>
                  <a:pt x="123825" y="247650"/>
                </a:lnTo>
                <a:lnTo>
                  <a:pt x="361950" y="0"/>
                </a:lnTo>
              </a:path>
            </a:pathLst>
          </a:custGeom>
          <a:noFill/>
          <a:ln w="30129" cap="rnd">
            <a:solidFill>
              <a:srgbClr val="1F7A6B"/>
            </a:solidFill>
            <a:prstDash val="solid"/>
            <a:round/>
            <a:headEnd type="none"/>
            <a:tailEnd type="none" w="med" len="lg"/>
          </a:ln>
        </p:spPr>
      </p:sp>
      <p:sp>
        <p:nvSpPr>
          <p:cNvPr id="107" name="admission-2-use">
            <a:extLst>
              <a:ext uri="{FF2B5EF4-FFF2-40B4-BE49-F238E27FC236}">
                <a16:creationId xmlns:a16="http://schemas.microsoft.com/office/drawing/2014/main" id="{FB0CC13D-1ECA-4B95-8EAC-9B26805E6CA2}"/>
              </a:ext>
            </a:extLst>
          </p:cNvPr>
          <p:cNvSpPr>
            <a:spLocks noGrp="1"/>
          </p:cNvSpPr>
          <p:nvPr/>
        </p:nvSpPr>
        <p:spPr>
          <a:xfrm rot="0">
            <a:off x="11021536" y="4962525"/>
            <a:ext cx="1524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 fontAlgn="base">
              <a:defRPr sz="2372" lang="en-US" b="0" i="0" dirty="0">
                <a:solidFill>
                  <a:srgbClr val="1F7A6B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1F7A6B"/>
                </a:solidFill>
                <a:latin typeface="Times New Roman"/>
                <a:ea typeface="Times New Roman"/>
              </a:rPr>
              <a:t xml:space="preserve">Use </a:t>
            </a: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1F7A6B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1F7A6B"/>
                        </a:solidFill>
                        <a:latin typeface="Cambria Math"/>
                        <a:ea typeface="Cambria Math"/>
                      </a:rPr>
                      <m:t xml:space="preserve">A</m:t>
                    </m:r>
                  </m:e>
                  <m:sub>
                    <m:r>
                      <m:rPr>
                        <m:sty m:val="p"/>
                      </m:rPr>
                      <a:rPr sz="2372" lang="en-US" b="0" i="0" dirty="0">
                        <a:solidFill>
                          <a:srgbClr val="1F7A6B"/>
                        </a:solidFill>
                        <a:latin typeface="Cambria Math"/>
                        <a:ea typeface="Cambria Math"/>
                      </a:rPr>
                      <m:t xml:space="preserve">2</m:t>
                    </m:r>
                  </m:sub>
                </m:sSub>
              </m:oMath>
            </a14:m>
            <a:endParaRPr lang="en-US" sz="2372"/>
          </a:p>
        </p:txBody>
      </p:sp>
      <p:sp>
        <p:nvSpPr>
          <p:cNvPr id="108" name="admission-task-last">
            <a:extLst>
              <a:ext uri="{FF2B5EF4-FFF2-40B4-BE49-F238E27FC236}">
                <a16:creationId xmlns:a16="http://schemas.microsoft.com/office/drawing/2014/main" id="{4746CFB8-7AED-461E-ADAF-0CDFE7100E27}"/>
              </a:ext>
            </a:extLst>
          </p:cNvPr>
          <p:cNvSpPr>
            <a:spLocks noGrp="1"/>
          </p:cNvSpPr>
          <p:nvPr/>
        </p:nvSpPr>
        <p:spPr>
          <a:xfrm>
            <a:off x="7792561" y="5343525"/>
            <a:ext cx="552450" cy="400050"/>
          </a:xfrm>
          <a:prstGeom prst="roundRect">
            <a:avLst>
              <a:gd name="adj" fmla="val 5881"/>
            </a:avLst>
          </a:prstGeom>
          <a:solidFill>
            <a:srgbClr val="F3F4F5"/>
          </a:solidFill>
          <a:ln w="20086">
            <a:solidFill>
              <a:srgbClr val="B4BEC8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1B2733"/>
                </a:solidFill>
                <a:latin typeface="Times New Roman"/>
                <a:ea typeface="Times New Roman"/>
              </a:defRPr>
            </a:pP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1B2733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1B2733"/>
                        </a:solidFill>
                        <a:latin typeface="Cambria Math"/>
                        <a:ea typeface="Cambria Math"/>
                      </a:rPr>
                      <m:t xml:space="preserve">t</m:t>
                    </m:r>
                  </m:e>
                  <m:sub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1B2733"/>
                        </a:solidFill>
                        <a:latin typeface="Cambria Math"/>
                        <a:ea typeface="Cambria Math"/>
                      </a:rPr>
                      <m:t xml:space="preserve">m</m:t>
                    </m:r>
                  </m:sub>
                </m:sSub>
              </m:oMath>
            </a14:m>
            <a:endParaRPr lang="en-US" sz="2372"/>
          </a:p>
        </p:txBody>
      </p:sp>
      <p:cxnSp>
        <p:nvCxnSpPr>
          <p:cNvPr id="109" name="task-to-excluded-instances">
            <a:extLst>
              <a:ext uri="{FF2B5EF4-FFF2-40B4-BE49-F238E27FC236}">
                <a16:creationId xmlns:a16="http://schemas.microsoft.com/office/drawing/2014/main" id="{1D6CC1A2-DE9A-46EF-8FA4-5453D7C04863}"/>
              </a:ext>
            </a:extLst>
          </p:cNvPr>
          <p:cNvCxnSpPr/>
          <p:nvPr/>
        </p:nvCxnSpPr>
        <p:spPr>
          <a:xfrm>
            <a:off x="8478361" y="5543550"/>
            <a:ext cx="666750" cy="95"/>
          </a:xfrm>
          <a:prstGeom prst="line">
            <a:avLst/>
          </a:prstGeom>
          <a:noFill/>
          <a:ln w="23434" cap="rnd">
            <a:solidFill>
              <a:srgbClr val="A3322C"/>
            </a:solidFill>
            <a:prstDash val="dash"/>
            <a:round/>
            <a:headEnd type="none"/>
            <a:tailEnd type="triangle" w="med" len="lg"/>
          </a:ln>
        </p:spPr>
      </p:cxnSp>
      <p:sp>
        <p:nvSpPr>
          <p:cNvPr id="110" name="excluded-row-instance-7">
            <a:extLst>
              <a:ext uri="{FF2B5EF4-FFF2-40B4-BE49-F238E27FC236}">
                <a16:creationId xmlns:a16="http://schemas.microsoft.com/office/drawing/2014/main" id="{A418B0F6-27D4-4120-A0AE-4C40C00EE56E}"/>
              </a:ext>
            </a:extLst>
          </p:cNvPr>
          <p:cNvSpPr>
            <a:spLocks noGrp="1"/>
          </p:cNvSpPr>
          <p:nvPr/>
        </p:nvSpPr>
        <p:spPr>
          <a:xfrm>
            <a:off x="9240361" y="5343525"/>
            <a:ext cx="419100" cy="400050"/>
          </a:xfrm>
          <a:prstGeom prst="roundRect">
            <a:avLst>
              <a:gd name="adj" fmla="val 5881"/>
            </a:avLst>
          </a:prstGeom>
          <a:solidFill>
            <a:srgbClr val="FFFFFF"/>
          </a:solidFill>
          <a:ln w="23434">
            <a:solidFill>
              <a:srgbClr val="3B5A7A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3B5A7A"/>
                </a:solidFill>
                <a:latin typeface="Times New Roman"/>
                <a:ea typeface="Times New Roman"/>
              </a:defRPr>
            </a:pP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3B5A7A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3B5A7A"/>
                        </a:solidFill>
                        <a:latin typeface="Cambria Math"/>
                        <a:ea typeface="Cambria Math"/>
                      </a:rPr>
                      <m:t xml:space="preserve">x</m:t>
                    </m:r>
                  </m:e>
                  <m:sub>
                    <m:r>
                      <m:rPr>
                        <m:sty m:val="p"/>
                      </m:rPr>
                      <a:rPr sz="2372" lang="en-US" b="0" i="0" dirty="0">
                        <a:solidFill>
                          <a:srgbClr val="3B5A7A"/>
                        </a:solidFill>
                        <a:latin typeface="Cambria Math"/>
                        <a:ea typeface="Cambria Math"/>
                      </a:rPr>
                      <m:t xml:space="preserve">7</m:t>
                    </m:r>
                  </m:sub>
                </m:sSub>
              </m:oMath>
            </a14:m>
            <a:endParaRPr lang="en-US" sz="2372"/>
          </a:p>
        </p:txBody>
      </p:sp>
      <p:sp>
        <p:nvSpPr>
          <p:cNvPr id="111" name="excluded-row-instance-3">
            <a:extLst>
              <a:ext uri="{FF2B5EF4-FFF2-40B4-BE49-F238E27FC236}">
                <a16:creationId xmlns:a16="http://schemas.microsoft.com/office/drawing/2014/main" id="{FF6C74C2-3657-491E-A6D1-7E01DF7B7A6D}"/>
              </a:ext>
            </a:extLst>
          </p:cNvPr>
          <p:cNvSpPr>
            <a:spLocks noGrp="1"/>
          </p:cNvSpPr>
          <p:nvPr/>
        </p:nvSpPr>
        <p:spPr>
          <a:xfrm>
            <a:off x="9697561" y="5343525"/>
            <a:ext cx="419100" cy="400050"/>
          </a:xfrm>
          <a:prstGeom prst="roundRect">
            <a:avLst>
              <a:gd name="adj" fmla="val 5881"/>
            </a:avLst>
          </a:prstGeom>
          <a:pattFill prst="upDiag">
            <a:fgClr>
              <a:srgbClr val="D9948F"/>
            </a:fgClr>
            <a:bgClr>
              <a:srgbClr val="FFFFFF"/>
            </a:bgClr>
          </a:pattFill>
          <a:ln w="26781">
            <a:solidFill>
              <a:srgbClr val="A3322C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A3322C"/>
                </a:solidFill>
                <a:latin typeface="Times New Roman"/>
                <a:ea typeface="Times New Roman"/>
              </a:defRPr>
            </a:pP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A3322C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A3322C"/>
                        </a:solidFill>
                        <a:latin typeface="Cambria Math"/>
                        <a:ea typeface="Cambria Math"/>
                      </a:rPr>
                      <m:t xml:space="preserve">x</m:t>
                    </m:r>
                  </m:e>
                  <m:sub>
                    <m:r>
                      <m:rPr>
                        <m:sty m:val="p"/>
                      </m:rPr>
                      <a:rPr sz="2372" lang="en-US" b="0" i="0" dirty="0">
                        <a:solidFill>
                          <a:srgbClr val="A3322C"/>
                        </a:solidFill>
                        <a:latin typeface="Cambria Math"/>
                        <a:ea typeface="Cambria Math"/>
                      </a:rPr>
                      <m:t xml:space="preserve">3</m:t>
                    </m:r>
                  </m:sub>
                </m:sSub>
              </m:oMath>
            </a14:m>
            <a:endParaRPr lang="en-US" sz="2372"/>
          </a:p>
        </p:txBody>
      </p:sp>
      <p:sp>
        <p:nvSpPr>
          <p:cNvPr id="112" name="excluded-symbol-ring">
            <a:extLst>
              <a:ext uri="{FF2B5EF4-FFF2-40B4-BE49-F238E27FC236}">
                <a16:creationId xmlns:a16="http://schemas.microsoft.com/office/drawing/2014/main" id="{31798D8A-D68E-4934-AF8B-18698F96A1A5}"/>
              </a:ext>
            </a:extLst>
          </p:cNvPr>
          <p:cNvSpPr>
            <a:spLocks noGrp="1"/>
          </p:cNvSpPr>
          <p:nvPr/>
        </p:nvSpPr>
        <p:spPr>
          <a:xfrm>
            <a:off x="10202386" y="5419725"/>
            <a:ext cx="247650" cy="247650"/>
          </a:xfrm>
          <a:prstGeom prst="ellipse">
            <a:avLst/>
          </a:prstGeom>
          <a:solidFill>
            <a:srgbClr val="FFFFFF"/>
          </a:solidFill>
          <a:ln w="28455">
            <a:solidFill>
              <a:srgbClr val="A3322C"/>
            </a:solidFill>
          </a:ln>
        </p:spPr>
      </p:sp>
      <p:cxnSp>
        <p:nvCxnSpPr>
          <p:cNvPr id="113" name="excluded-symbol-slash">
            <a:extLst>
              <a:ext uri="{FF2B5EF4-FFF2-40B4-BE49-F238E27FC236}">
                <a16:creationId xmlns:a16="http://schemas.microsoft.com/office/drawing/2014/main" id="{C95691CF-E8FF-4A13-BE27-054458F91B5D}"/>
              </a:ext>
            </a:extLst>
          </p:cNvPr>
          <p:cNvCxnSpPr/>
          <p:nvPr/>
        </p:nvCxnSpPr>
        <p:spPr>
          <a:xfrm flipV="1">
            <a:off x="10245249" y="5462588"/>
            <a:ext cx="161925" cy="161925"/>
          </a:xfrm>
          <a:prstGeom prst="line">
            <a:avLst/>
          </a:prstGeom>
          <a:noFill/>
          <a:ln w="28455" cap="rnd">
            <a:solidFill>
              <a:srgbClr val="A3322C"/>
            </a:solidFill>
            <a:prstDash val="solid"/>
            <a:round/>
            <a:headEnd type="none"/>
            <a:tailEnd type="none" w="med" len="lg"/>
          </a:ln>
        </p:spPr>
      </p:cxnSp>
      <p:sp>
        <p:nvSpPr>
          <p:cNvPr id="114" name="admission-excluded-label">
            <a:extLst>
              <a:ext uri="{FF2B5EF4-FFF2-40B4-BE49-F238E27FC236}">
                <a16:creationId xmlns:a16="http://schemas.microsoft.com/office/drawing/2014/main" id="{0770550C-F225-4EA1-B1F2-601D50B27214}"/>
              </a:ext>
            </a:extLst>
          </p:cNvPr>
          <p:cNvSpPr>
            <a:spLocks noGrp="1"/>
          </p:cNvSpPr>
          <p:nvPr/>
        </p:nvSpPr>
        <p:spPr>
          <a:xfrm rot="0">
            <a:off x="10592911" y="5362575"/>
            <a:ext cx="20002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 fontAlgn="base">
              <a:defRPr sz="2372" lang="en-US" b="0" i="0" dirty="0">
                <a:solidFill>
                  <a:srgbClr val="A3322C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A3322C"/>
                </a:solidFill>
                <a:latin typeface="Times New Roman"/>
                <a:ea typeface="Times New Roman"/>
              </a:rPr>
              <a:t xml:space="preserve">Excluded</a:t>
            </a:r>
            <a:endParaRPr lang="en-US" sz="2372"/>
          </a:p>
        </p:txBody>
      </p:sp>
      <p:sp>
        <p:nvSpPr>
          <p:cNvPr id="115" name="admission-equation-5">
            <a:extLst>
              <a:ext uri="{FF2B5EF4-FFF2-40B4-BE49-F238E27FC236}">
                <a16:creationId xmlns:a16="http://schemas.microsoft.com/office/drawing/2014/main" id="{5223D5E3-3D28-4A0C-990E-DD2ED76FFBF7}"/>
              </a:ext>
            </a:extLst>
          </p:cNvPr>
          <p:cNvSpPr>
            <a:spLocks noGrp="1"/>
          </p:cNvSpPr>
          <p:nvPr/>
        </p:nvSpPr>
        <p:spPr>
          <a:xfrm rot="0">
            <a:off x="6816249" y="5762625"/>
            <a:ext cx="58674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5A6775"/>
                </a:solidFill>
                <a:latin typeface="Times New Roman"/>
                <a:ea typeface="Times New Roman"/>
              </a:defRPr>
            </a:pP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t</m:t>
                    </m:r>
                  </m:e>
                  <m:sub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i</m:t>
                    </m:r>
                  </m:sub>
                </m:sSub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=</m:t>
                </m:r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(</m:t>
                </m:r>
                <m:sSub>
                  <m:sSubPr>
                    <m:ctrl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s</m:t>
                    </m:r>
                  </m:e>
                  <m:sub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i</m:t>
                    </m:r>
                  </m:sub>
                </m:sSub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,</m:t>
                </m:r>
                <m:sSub>
                  <m:sSubPr>
                    <m:ctrl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P</m:t>
                    </m:r>
                  </m:e>
                  <m:sub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i</m:t>
                    </m:r>
                  </m:sub>
                </m:sSub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)</m:t>
                </m:r>
              </m:oMath>
            </a14:m>
            <a:r>
              <a:rPr sz="2372" lang="en-US" b="0" i="0" dirty="0">
                <a:solidFill>
                  <a:srgbClr val="5A6775"/>
                </a:solidFill>
                <a:latin typeface="Times New Roman"/>
                <a:ea typeface="Times New Roman"/>
              </a:rPr>
              <a:t xml:space="preserve">, accept if </a:t>
            </a: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p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Δ</m:t>
                    </m:r>
                  </m:e>
                  <m:sub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5A6775"/>
                        </a:solidFill>
                        <a:latin typeface="Cambria Math"/>
                        <a:ea typeface="Cambria Math"/>
                      </a:rPr>
                      <m:t xml:space="preserve">i</m:t>
                    </m:r>
                  </m:sub>
                </m:sSub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&gt;</m:t>
                </m:r>
                <m:r>
                  <m:rPr>
                    <m:sty m:val="p"/>
                  </m:rPr>
                  <a:rPr sz="2372" lang="en-US" b="0" i="0" dirty="0">
                    <a:solidFill>
                      <a:srgbClr val="5A6775"/>
                    </a:solidFill>
                    <a:latin typeface="Cambria Math"/>
                    <a:ea typeface="Cambria Math"/>
                  </a:rPr>
                  <m:t xml:space="preserve">0</m:t>
                </m:r>
              </m:oMath>
            </a14:m>
            <a:r>
              <a:rPr sz="2372" lang="en-US" b="0" i="0" dirty="0">
                <a:solidFill>
                  <a:srgbClr val="5A6775"/>
                </a:solidFill>
                <a:latin typeface="Times New Roman"/>
                <a:ea typeface="Times New Roman"/>
              </a:rPr>
              <a:t xml:space="preserve">, Eq. (5)</a:t>
            </a:r>
            <a:endParaRPr lang="en-US" sz="2372"/>
          </a:p>
        </p:txBody>
      </p:sp>
      <p:cxnSp>
        <p:nvCxnSpPr>
          <p:cNvPr id="116" name="store-parent-scores">
            <a:extLst>
              <a:ext uri="{FF2B5EF4-FFF2-40B4-BE49-F238E27FC236}">
                <a16:creationId xmlns:a16="http://schemas.microsoft.com/office/drawing/2014/main" id="{9823AD21-015C-4007-A50C-E6389FB4DEC7}"/>
              </a:ext>
            </a:extLst>
          </p:cNvPr>
          <p:cNvCxnSpPr/>
          <p:nvPr/>
        </p:nvCxnSpPr>
        <p:spPr>
          <a:xfrm flipV="1">
            <a:off x="605949" y="1428750"/>
            <a:ext cx="4762" cy="4067175"/>
          </a:xfrm>
          <a:prstGeom prst="bentConnector3">
            <a:avLst>
              <a:gd name="adj1" fmla="val -5100000"/>
            </a:avLst>
          </a:prstGeom>
          <a:noFill/>
          <a:ln w="26781" cap="rnd">
            <a:solidFill>
              <a:srgbClr val="1F7A6B"/>
            </a:solidFill>
            <a:prstDash val="solid"/>
            <a:round/>
            <a:headEnd type="none"/>
            <a:tailEnd type="triangle" w="med" len="lg"/>
          </a:ln>
        </p:spPr>
      </p:cxnSp>
      <p:sp>
        <p:nvSpPr>
          <p:cNvPr id="117" name="store-parent-scores-label">
            <a:extLst>
              <a:ext uri="{FF2B5EF4-FFF2-40B4-BE49-F238E27FC236}">
                <a16:creationId xmlns:a16="http://schemas.microsoft.com/office/drawing/2014/main" id="{61C1BCC1-BA07-4BEA-B6FC-5841E44D889E}"/>
              </a:ext>
            </a:extLst>
          </p:cNvPr>
          <p:cNvSpPr>
            <a:spLocks noGrp="1"/>
          </p:cNvSpPr>
          <p:nvPr/>
        </p:nvSpPr>
        <p:spPr>
          <a:xfrm rot="16200000">
            <a:off x="-1522889" y="3295650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1F7A6B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1F7A6B"/>
                </a:solidFill>
                <a:latin typeface="Times New Roman"/>
                <a:ea typeface="Times New Roman"/>
              </a:rPr>
              <a:t xml:space="preserve">Store parent scores</a:t>
            </a:r>
            <a:endParaRPr lang="en-US" sz="2372"/>
          </a:p>
        </p:txBody>
      </p:sp>
      <p:cxnSp>
        <p:nvCxnSpPr>
          <p:cNvPr id="118" name="store-accepted-scores-rise">
            <a:extLst>
              <a:ext uri="{FF2B5EF4-FFF2-40B4-BE49-F238E27FC236}">
                <a16:creationId xmlns:a16="http://schemas.microsoft.com/office/drawing/2014/main" id="{71C75A0E-C847-4067-863B-0BF2444ADC17}"/>
              </a:ext>
            </a:extLst>
          </p:cNvPr>
          <p:cNvCxnSpPr/>
          <p:nvPr/>
        </p:nvCxnSpPr>
        <p:spPr>
          <a:xfrm flipV="1">
            <a:off x="12688411" y="114300"/>
            <a:ext cx="238125" cy="6886575"/>
          </a:xfrm>
          <a:prstGeom prst="bentConnector2">
            <a:avLst/>
          </a:prstGeom>
          <a:noFill/>
          <a:ln w="26781" cap="rnd">
            <a:solidFill>
              <a:srgbClr val="3B5A7A"/>
            </a:solidFill>
            <a:prstDash val="solid"/>
            <a:round/>
            <a:headEnd type="none"/>
            <a:tailEnd type="none" w="med" len="lg"/>
          </a:ln>
        </p:spPr>
      </p:cxnSp>
      <p:cxnSp>
        <p:nvCxnSpPr>
          <p:cNvPr id="119" name="store-accepted-scores-return">
            <a:extLst>
              <a:ext uri="{FF2B5EF4-FFF2-40B4-BE49-F238E27FC236}">
                <a16:creationId xmlns:a16="http://schemas.microsoft.com/office/drawing/2014/main" id="{780F726B-BB36-457F-AD54-FD34608FBF45}"/>
              </a:ext>
            </a:extLst>
          </p:cNvPr>
          <p:cNvCxnSpPr/>
          <p:nvPr/>
        </p:nvCxnSpPr>
        <p:spPr>
          <a:xfrm flipH="1">
            <a:off x="2496661" y="114300"/>
            <a:ext cx="10429875" cy="171450"/>
          </a:xfrm>
          <a:prstGeom prst="bentConnector2">
            <a:avLst/>
          </a:prstGeom>
          <a:noFill/>
          <a:ln w="26781" cap="rnd">
            <a:solidFill>
              <a:srgbClr val="3B5A7A"/>
            </a:solidFill>
            <a:prstDash val="solid"/>
            <a:round/>
            <a:headEnd type="none"/>
            <a:tailEnd type="triangle" w="med" len="lg"/>
          </a:ln>
        </p:spPr>
      </p:cxnSp>
      <p:sp>
        <p:nvSpPr>
          <p:cNvPr id="120" name="store-accepted-scores-label">
            <a:extLst>
              <a:ext uri="{FF2B5EF4-FFF2-40B4-BE49-F238E27FC236}">
                <a16:creationId xmlns:a16="http://schemas.microsoft.com/office/drawing/2014/main" id="{D0A6213E-44CB-4849-BB11-8027D921B6F6}"/>
              </a:ext>
            </a:extLst>
          </p:cNvPr>
          <p:cNvSpPr>
            <a:spLocks noGrp="1"/>
          </p:cNvSpPr>
          <p:nvPr/>
        </p:nvSpPr>
        <p:spPr>
          <a:xfrm rot="16200000">
            <a:off x="10754836" y="3295650"/>
            <a:ext cx="47625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3B5A7A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3B5A7A"/>
                </a:solidFill>
                <a:latin typeface="Times New Roman"/>
                <a:ea typeface="Times New Roman"/>
              </a:rPr>
              <a:t xml:space="preserve">Store accepted skill scores</a:t>
            </a:r>
            <a:endParaRPr lang="en-US" sz="2372"/>
          </a:p>
        </p:txBody>
      </p:sp>
      <p:sp>
        <p:nvSpPr>
          <p:cNvPr id="121" name="store-scores-label">
            <a:extLst>
              <a:ext uri="{FF2B5EF4-FFF2-40B4-BE49-F238E27FC236}">
                <a16:creationId xmlns:a16="http://schemas.microsoft.com/office/drawing/2014/main" id="{B6FD76D7-D6A0-4E15-AA82-426CF1F9B943}"/>
              </a:ext>
            </a:extLst>
          </p:cNvPr>
          <p:cNvSpPr>
            <a:spLocks noGrp="1"/>
          </p:cNvSpPr>
          <p:nvPr/>
        </p:nvSpPr>
        <p:spPr>
          <a:xfrm rot="0">
            <a:off x="10564336" y="6362700"/>
            <a:ext cx="21907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3B5A7A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3B5A7A"/>
                </a:solidFill>
                <a:latin typeface="Times New Roman"/>
                <a:ea typeface="Times New Roman"/>
              </a:rPr>
              <a:t xml:space="preserve">Store scores</a:t>
            </a:r>
            <a:endParaRPr lang="en-US" sz="2372"/>
          </a:p>
        </p:txBody>
      </p:sp>
      <p:cxnSp>
        <p:nvCxnSpPr>
          <p:cNvPr id="122" name="credit-to-final-selection">
            <a:extLst>
              <a:ext uri="{FF2B5EF4-FFF2-40B4-BE49-F238E27FC236}">
                <a16:creationId xmlns:a16="http://schemas.microsoft.com/office/drawing/2014/main" id="{1DA01A4C-BAC3-4FBA-84CE-5BB0BA098A7F}"/>
              </a:ext>
            </a:extLst>
          </p:cNvPr>
          <p:cNvCxnSpPr/>
          <p:nvPr/>
        </p:nvCxnSpPr>
        <p:spPr>
          <a:xfrm>
            <a:off x="6673374" y="3105150"/>
            <a:ext cx="95" cy="4533900"/>
          </a:xfrm>
          <a:prstGeom prst="line">
            <a:avLst/>
          </a:prstGeom>
          <a:noFill/>
          <a:ln w="23434" cap="rnd">
            <a:solidFill>
              <a:srgbClr val="B0761A"/>
            </a:solidFill>
            <a:prstDash val="solid"/>
            <a:round/>
            <a:headEnd type="none"/>
            <a:tailEnd type="triangle" w="med" len="lg"/>
          </a:ln>
        </p:spPr>
      </p:cxnSp>
      <p:sp>
        <p:nvSpPr>
          <p:cNvPr id="123" name="final-selection">
            <a:extLst>
              <a:ext uri="{FF2B5EF4-FFF2-40B4-BE49-F238E27FC236}">
                <a16:creationId xmlns:a16="http://schemas.microsoft.com/office/drawing/2014/main" id="{3CBB444F-8853-4585-95FE-E73F4F5B35B1}"/>
              </a:ext>
            </a:extLst>
          </p:cNvPr>
          <p:cNvSpPr>
            <a:spLocks noGrp="1"/>
          </p:cNvSpPr>
          <p:nvPr/>
        </p:nvSpPr>
        <p:spPr>
          <a:xfrm>
            <a:off x="4577874" y="7639050"/>
            <a:ext cx="4191000" cy="419100"/>
          </a:xfrm>
          <a:prstGeom prst="roundRect">
            <a:avLst>
              <a:gd name="adj" fmla="val 14432"/>
            </a:avLst>
          </a:prstGeom>
          <a:solidFill>
            <a:srgbClr val="FBEFD6"/>
          </a:solidFill>
          <a:ln w="26781">
            <a:solidFill>
              <a:srgbClr val="B0761A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1B2733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1B2733"/>
                </a:solidFill>
                <a:latin typeface="Times New Roman"/>
                <a:ea typeface="Times New Roman"/>
              </a:rPr>
              <a:t xml:space="preserve">Return skill with largest </a:t>
            </a: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1B2733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1B2733"/>
                        </a:solidFill>
                        <a:latin typeface="Cambria Math"/>
                        <a:ea typeface="Cambria Math"/>
                      </a:rPr>
                      <m:t xml:space="preserve">G</m:t>
                    </m:r>
                  </m:e>
                  <m:sub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1B2733"/>
                        </a:solidFill>
                        <a:latin typeface="Cambria Math"/>
                        <a:ea typeface="Cambria Math"/>
                      </a:rPr>
                      <m:t xml:space="preserve">s</m:t>
                    </m:r>
                  </m:sub>
                </m:sSub>
              </m:oMath>
            </a14:m>
            <a:endParaRPr lang="en-US" sz="2372"/>
          </a:p>
        </p:txBody>
      </p:sp>
      <p:cxnSp>
        <p:nvCxnSpPr>
          <p:cNvPr id="124" name="budget-divider-left">
            <a:extLst>
              <a:ext uri="{FF2B5EF4-FFF2-40B4-BE49-F238E27FC236}">
                <a16:creationId xmlns:a16="http://schemas.microsoft.com/office/drawing/2014/main" id="{D2325BDD-DE0C-4985-96D0-2B2FD180468B}"/>
              </a:ext>
            </a:extLst>
          </p:cNvPr>
          <p:cNvCxnSpPr/>
          <p:nvPr/>
        </p:nvCxnSpPr>
        <p:spPr>
          <a:xfrm>
            <a:off x="544036" y="7848600"/>
            <a:ext cx="3857625" cy="95"/>
          </a:xfrm>
          <a:prstGeom prst="line">
            <a:avLst/>
          </a:prstGeom>
          <a:noFill/>
          <a:ln w="20086" cap="rnd">
            <a:solidFill>
              <a:srgbClr val="B4BEC8"/>
            </a:solidFill>
            <a:prstDash val="dash"/>
            <a:round/>
            <a:headEnd type="none"/>
            <a:tailEnd type="none" w="med" len="lg"/>
          </a:ln>
        </p:spPr>
      </p:cxnSp>
      <p:cxnSp>
        <p:nvCxnSpPr>
          <p:cNvPr id="125" name="budget-divider-right">
            <a:extLst>
              <a:ext uri="{FF2B5EF4-FFF2-40B4-BE49-F238E27FC236}">
                <a16:creationId xmlns:a16="http://schemas.microsoft.com/office/drawing/2014/main" id="{49A23FCD-CEF1-4621-A69A-BF924DA40C8F}"/>
              </a:ext>
            </a:extLst>
          </p:cNvPr>
          <p:cNvCxnSpPr/>
          <p:nvPr/>
        </p:nvCxnSpPr>
        <p:spPr>
          <a:xfrm>
            <a:off x="8945086" y="7848600"/>
            <a:ext cx="3857625" cy="95"/>
          </a:xfrm>
          <a:prstGeom prst="line">
            <a:avLst/>
          </a:prstGeom>
          <a:noFill/>
          <a:ln w="20086" cap="rnd">
            <a:solidFill>
              <a:srgbClr val="B4BEC8"/>
            </a:solidFill>
            <a:prstDash val="dash"/>
            <a:round/>
            <a:headEnd type="none"/>
            <a:tailEnd type="none" w="med" len="lg"/>
          </a:ln>
        </p:spPr>
      </p:cxnSp>
      <p:sp>
        <p:nvSpPr>
          <p:cNvPr id="126" name="budget-label">
            <a:extLst>
              <a:ext uri="{FF2B5EF4-FFF2-40B4-BE49-F238E27FC236}">
                <a16:creationId xmlns:a16="http://schemas.microsoft.com/office/drawing/2014/main" id="{1CE0DBA2-226A-43C8-B5CF-F94D5CA7D919}"/>
              </a:ext>
            </a:extLst>
          </p:cNvPr>
          <p:cNvSpPr>
            <a:spLocks noGrp="1"/>
          </p:cNvSpPr>
          <p:nvPr/>
        </p:nvSpPr>
        <p:spPr>
          <a:xfrm rot="0">
            <a:off x="1544161" y="7934325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 fontAlgn="base">
              <a:defRPr sz="2372" lang="en-US" b="0" i="0" dirty="0">
                <a:solidFill>
                  <a:srgbClr val="B0761A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B0761A"/>
                </a:solidFill>
                <a:latin typeface="Times New Roman"/>
                <a:ea typeface="Times New Roman"/>
              </a:rPr>
              <a:t xml:space="preserve">Budget reached</a:t>
            </a:r>
            <a:endParaRPr lang="en-US" sz="2372"/>
          </a:p>
        </p:txBody>
      </p:sp>
      <p:sp>
        <p:nvSpPr>
          <p:cNvPr id="127" name="execution-parent">
            <a:extLst>
              <a:ext uri="{FF2B5EF4-FFF2-40B4-BE49-F238E27FC236}">
                <a16:creationId xmlns:a16="http://schemas.microsoft.com/office/drawing/2014/main" id="{70FD7876-1C1F-4162-999E-C6CC9A63610A}"/>
              </a:ext>
            </a:extLst>
          </p:cNvPr>
          <p:cNvSpPr>
            <a:spLocks noGrp="1"/>
          </p:cNvSpPr>
          <p:nvPr/>
        </p:nvSpPr>
        <p:spPr>
          <a:xfrm>
            <a:off x="686911" y="6762750"/>
            <a:ext cx="1619250" cy="476250"/>
          </a:xfrm>
          <a:prstGeom prst="roundRect">
            <a:avLst>
              <a:gd name="adj" fmla="val 12700"/>
            </a:avLst>
          </a:prstGeom>
          <a:solidFill>
            <a:srgbClr val="FFFFFF"/>
          </a:solidFill>
          <a:ln w="20086">
            <a:solidFill>
              <a:srgbClr val="B4BEC8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1B2733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1B2733"/>
                </a:solidFill>
                <a:latin typeface="Times New Roman"/>
                <a:ea typeface="Times New Roman"/>
              </a:rPr>
              <a:t xml:space="preserve">Parent </a:t>
            </a:r>
            <a14:m>
              <m:oMath>
                <m:r>
                  <m:rPr>
                    <m:sty m:val="i"/>
                  </m:rPr>
                  <a:rPr sz="2372" lang="en-US" b="0" i="0" dirty="0">
                    <a:solidFill>
                      <a:srgbClr val="1B2733"/>
                    </a:solidFill>
                    <a:latin typeface="Cambria Math"/>
                    <a:ea typeface="Cambria Math"/>
                  </a:rPr>
                  <m:t xml:space="preserve">s</m:t>
                </m:r>
              </m:oMath>
            </a14:m>
            <a:endParaRPr lang="en-US" sz="2372"/>
          </a:p>
        </p:txBody>
      </p:sp>
      <p:cxnSp>
        <p:nvCxnSpPr>
          <p:cNvPr id="128" name="parent-to-proposal-instances">
            <a:extLst>
              <a:ext uri="{FF2B5EF4-FFF2-40B4-BE49-F238E27FC236}">
                <a16:creationId xmlns:a16="http://schemas.microsoft.com/office/drawing/2014/main" id="{320FAA76-CE65-47E6-A6D9-A14C0A01C1EC}"/>
              </a:ext>
            </a:extLst>
          </p:cNvPr>
          <p:cNvCxnSpPr/>
          <p:nvPr/>
        </p:nvCxnSpPr>
        <p:spPr>
          <a:xfrm>
            <a:off x="2325211" y="7000875"/>
            <a:ext cx="285750" cy="95"/>
          </a:xfrm>
          <a:prstGeom prst="line">
            <a:avLst/>
          </a:prstGeom>
          <a:noFill/>
          <a:ln w="23434" cap="rnd">
            <a:solidFill>
              <a:srgbClr val="1F7A6B"/>
            </a:solidFill>
            <a:prstDash val="solid"/>
            <a:round/>
            <a:headEnd type="none"/>
            <a:tailEnd type="triangle" w="med" len="lg"/>
          </a:ln>
        </p:spPr>
      </p:cxnSp>
      <p:sp>
        <p:nvSpPr>
          <p:cNvPr id="129" name="execution-proposal-label">
            <a:extLst>
              <a:ext uri="{FF2B5EF4-FFF2-40B4-BE49-F238E27FC236}">
                <a16:creationId xmlns:a16="http://schemas.microsoft.com/office/drawing/2014/main" id="{7CA44748-2DB0-4AAA-A247-3FE2DBF5240A}"/>
              </a:ext>
            </a:extLst>
          </p:cNvPr>
          <p:cNvSpPr>
            <a:spLocks noGrp="1"/>
          </p:cNvSpPr>
          <p:nvPr/>
        </p:nvSpPr>
        <p:spPr>
          <a:xfrm rot="0">
            <a:off x="3220561" y="6381750"/>
            <a:ext cx="4286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 fontAlgn="base">
              <a:defRPr sz="2372" lang="en-US" b="0" i="0" dirty="0">
                <a:solidFill>
                  <a:srgbClr val="1F7A6B"/>
                </a:solidFill>
                <a:latin typeface="Times New Roman"/>
                <a:ea typeface="Times New Roman"/>
              </a:defRPr>
            </a:pPr>
            <a14:m>
              <m:oMath>
                <m:r>
                  <m:rPr>
                    <m:sty m:val="i"/>
                  </m:rPr>
                  <a:rPr sz="2372" lang="en-US" b="0" i="0" dirty="0">
                    <a:solidFill>
                      <a:srgbClr val="1F7A6B"/>
                    </a:solidFill>
                    <a:latin typeface="Cambria Math"/>
                    <a:ea typeface="Cambria Math"/>
                  </a:rPr>
                  <m:t xml:space="preserve">P</m:t>
                </m:r>
              </m:oMath>
            </a14:m>
            <a:endParaRPr lang="en-US" sz="2372"/>
          </a:p>
        </p:txBody>
      </p:sp>
      <p:sp>
        <p:nvSpPr>
          <p:cNvPr id="130" name="execution-proposal-x1">
            <a:extLst>
              <a:ext uri="{FF2B5EF4-FFF2-40B4-BE49-F238E27FC236}">
                <a16:creationId xmlns:a16="http://schemas.microsoft.com/office/drawing/2014/main" id="{ADD08196-3220-4DDB-8AB1-226F8BEBF3E8}"/>
              </a:ext>
            </a:extLst>
          </p:cNvPr>
          <p:cNvSpPr>
            <a:spLocks noGrp="1"/>
          </p:cNvSpPr>
          <p:nvPr/>
        </p:nvSpPr>
        <p:spPr>
          <a:xfrm>
            <a:off x="2649061" y="6800850"/>
            <a:ext cx="419100" cy="400050"/>
          </a:xfrm>
          <a:prstGeom prst="roundRect">
            <a:avLst>
              <a:gd name="adj" fmla="val 5881"/>
            </a:avLst>
          </a:prstGeom>
          <a:solidFill>
            <a:srgbClr val="1F7A6B"/>
          </a:solidFill>
          <a:ln w="16738">
            <a:solidFill>
              <a:srgbClr val="1F7A6B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FFFFFF"/>
                </a:solidFill>
                <a:latin typeface="Times New Roman"/>
                <a:ea typeface="Times New Roman"/>
              </a:defRPr>
            </a:pP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FFFFFF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FFFFFF"/>
                        </a:solidFill>
                        <a:latin typeface="Cambria Math"/>
                        <a:ea typeface="Cambria Math"/>
                      </a:rPr>
                      <m:t xml:space="preserve">x</m:t>
                    </m:r>
                  </m:e>
                  <m:sub>
                    <m:r>
                      <m:rPr>
                        <m:sty m:val="p"/>
                      </m:rPr>
                      <a:rPr sz="2372" lang="en-US" b="0" i="0" dirty="0">
                        <a:solidFill>
                          <a:srgbClr val="FFFFFF"/>
                        </a:solidFill>
                        <a:latin typeface="Cambria Math"/>
                        <a:ea typeface="Cambria Math"/>
                      </a:rPr>
                      <m:t xml:space="preserve">1</m:t>
                    </m:r>
                  </m:sub>
                </m:sSub>
              </m:oMath>
            </a14:m>
            <a:endParaRPr lang="en-US" sz="2372"/>
          </a:p>
        </p:txBody>
      </p:sp>
      <p:sp>
        <p:nvSpPr>
          <p:cNvPr id="131" name="execution-proposal-x2">
            <a:extLst>
              <a:ext uri="{FF2B5EF4-FFF2-40B4-BE49-F238E27FC236}">
                <a16:creationId xmlns:a16="http://schemas.microsoft.com/office/drawing/2014/main" id="{23CD32F4-764B-4762-A81A-92A304F99E40}"/>
              </a:ext>
            </a:extLst>
          </p:cNvPr>
          <p:cNvSpPr>
            <a:spLocks noGrp="1"/>
          </p:cNvSpPr>
          <p:nvPr/>
        </p:nvSpPr>
        <p:spPr>
          <a:xfrm>
            <a:off x="3106261" y="6800850"/>
            <a:ext cx="419100" cy="400050"/>
          </a:xfrm>
          <a:prstGeom prst="roundRect">
            <a:avLst>
              <a:gd name="adj" fmla="val 5881"/>
            </a:avLst>
          </a:prstGeom>
          <a:solidFill>
            <a:srgbClr val="1F7A6B"/>
          </a:solidFill>
          <a:ln w="16738">
            <a:solidFill>
              <a:srgbClr val="1F7A6B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FFFFFF"/>
                </a:solidFill>
                <a:latin typeface="Times New Roman"/>
                <a:ea typeface="Times New Roman"/>
              </a:defRPr>
            </a:pP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FFFFFF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FFFFFF"/>
                        </a:solidFill>
                        <a:latin typeface="Cambria Math"/>
                        <a:ea typeface="Cambria Math"/>
                      </a:rPr>
                      <m:t xml:space="preserve">x</m:t>
                    </m:r>
                  </m:e>
                  <m:sub>
                    <m:r>
                      <m:rPr>
                        <m:sty m:val="p"/>
                      </m:rPr>
                      <a:rPr sz="2372" lang="en-US" b="0" i="0" dirty="0">
                        <a:solidFill>
                          <a:srgbClr val="FFFFFF"/>
                        </a:solidFill>
                        <a:latin typeface="Cambria Math"/>
                        <a:ea typeface="Cambria Math"/>
                      </a:rPr>
                      <m:t xml:space="preserve">2</m:t>
                    </m:r>
                  </m:sub>
                </m:sSub>
              </m:oMath>
            </a14:m>
            <a:endParaRPr lang="en-US" sz="2372"/>
          </a:p>
        </p:txBody>
      </p:sp>
      <p:cxnSp>
        <p:nvCxnSpPr>
          <p:cNvPr id="132" name="proposal-instances-to-new-skill">
            <a:extLst>
              <a:ext uri="{FF2B5EF4-FFF2-40B4-BE49-F238E27FC236}">
                <a16:creationId xmlns:a16="http://schemas.microsoft.com/office/drawing/2014/main" id="{8340DD12-2E36-4AEE-BDC9-6FD12C249FE4}"/>
              </a:ext>
            </a:extLst>
          </p:cNvPr>
          <p:cNvCxnSpPr/>
          <p:nvPr/>
        </p:nvCxnSpPr>
        <p:spPr>
          <a:xfrm>
            <a:off x="3563461" y="7000875"/>
            <a:ext cx="609600" cy="95"/>
          </a:xfrm>
          <a:prstGeom prst="line">
            <a:avLst/>
          </a:prstGeom>
          <a:noFill/>
          <a:ln w="23434" cap="rnd">
            <a:solidFill>
              <a:srgbClr val="1F7A6B"/>
            </a:solidFill>
            <a:prstDash val="solid"/>
            <a:round/>
            <a:headEnd type="none"/>
            <a:tailEnd type="triangle" w="med" len="lg"/>
          </a:ln>
        </p:spPr>
      </p:cxnSp>
      <p:sp>
        <p:nvSpPr>
          <p:cNvPr id="133" name="execution-new-skill">
            <a:extLst>
              <a:ext uri="{FF2B5EF4-FFF2-40B4-BE49-F238E27FC236}">
                <a16:creationId xmlns:a16="http://schemas.microsoft.com/office/drawing/2014/main" id="{BFC6E30D-188E-4EE2-8901-974AF525C351}"/>
              </a:ext>
            </a:extLst>
          </p:cNvPr>
          <p:cNvSpPr>
            <a:spLocks noGrp="1"/>
          </p:cNvSpPr>
          <p:nvPr/>
        </p:nvSpPr>
        <p:spPr>
          <a:xfrm>
            <a:off x="4215924" y="6762750"/>
            <a:ext cx="1666875" cy="476250"/>
          </a:xfrm>
          <a:prstGeom prst="roundRect">
            <a:avLst>
              <a:gd name="adj" fmla="val 12700"/>
            </a:avLst>
          </a:prstGeom>
          <a:solidFill>
            <a:srgbClr val="FFFFFF"/>
          </a:solidFill>
          <a:ln w="20086">
            <a:solidFill>
              <a:srgbClr val="B4BEC8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1B2733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1B2733"/>
                </a:solidFill>
                <a:latin typeface="Times New Roman"/>
                <a:ea typeface="Times New Roman"/>
              </a:rPr>
              <a:t xml:space="preserve">New skill </a:t>
            </a:r>
            <a14:m>
              <m:oMath>
                <m:r>
                  <m:rPr>
                    <m:sty m:val="i"/>
                  </m:rPr>
                  <a:rPr sz="2372" lang="en-US" b="0" i="0" dirty="0">
                    <a:solidFill>
                      <a:srgbClr val="1B2733"/>
                    </a:solidFill>
                    <a:latin typeface="Cambria Math"/>
                    <a:ea typeface="Cambria Math"/>
                  </a:rPr>
                  <m:t xml:space="preserve">p</m:t>
                </m:r>
              </m:oMath>
            </a14:m>
            <a:endParaRPr lang="en-US" sz="2372"/>
          </a:p>
        </p:txBody>
      </p:sp>
      <p:cxnSp>
        <p:nvCxnSpPr>
          <p:cNvPr id="173" name="new-skill-to-admission-instances-crossing-clearance">
            <a:extLst>
              <a:ext uri="{FF2B5EF4-FFF2-40B4-BE49-F238E27FC236}">
                <a16:creationId xmlns:a16="http://schemas.microsoft.com/office/drawing/2014/main" id="{E761B72A-75A2-4AA3-8136-5393D9A14C69}"/>
              </a:ext>
            </a:extLst>
          </p:cNvPr>
          <p:cNvCxnSpPr/>
          <p:nvPr/>
        </p:nvCxnSpPr>
        <p:spPr>
          <a:xfrm>
            <a:off x="5906611" y="7000875"/>
            <a:ext cx="1047750" cy="95"/>
          </a:xfrm>
          <a:prstGeom prst="line">
            <a:avLst/>
          </a:prstGeom>
          <a:noFill/>
          <a:ln w="87039" cap="rnd">
            <a:solidFill>
              <a:srgbClr val="FFFFFF"/>
            </a:solidFill>
            <a:prstDash val="solid"/>
            <a:round/>
            <a:headEnd type="none"/>
            <a:tailEnd type="none" w="med" len="lg"/>
          </a:ln>
        </p:spPr>
      </p:cxnSp>
      <p:cxnSp>
        <p:nvCxnSpPr>
          <p:cNvPr id="134" name="new-skill-to-admission-instances">
            <a:extLst>
              <a:ext uri="{FF2B5EF4-FFF2-40B4-BE49-F238E27FC236}">
                <a16:creationId xmlns:a16="http://schemas.microsoft.com/office/drawing/2014/main" id="{E761B72A-75A2-4AA3-8136-5393D9A14C69}"/>
              </a:ext>
            </a:extLst>
          </p:cNvPr>
          <p:cNvCxnSpPr/>
          <p:nvPr/>
        </p:nvCxnSpPr>
        <p:spPr>
          <a:xfrm>
            <a:off x="5906611" y="7000875"/>
            <a:ext cx="1047750" cy="95"/>
          </a:xfrm>
          <a:prstGeom prst="line">
            <a:avLst/>
          </a:prstGeom>
          <a:noFill/>
          <a:ln w="23434" cap="rnd">
            <a:solidFill>
              <a:srgbClr val="3B5A7A"/>
            </a:solidFill>
            <a:prstDash val="solid"/>
            <a:round/>
            <a:headEnd type="none"/>
            <a:tailEnd type="triangle" w="med" len="lg"/>
          </a:ln>
        </p:spPr>
      </p:cxnSp>
      <p:sp>
        <p:nvSpPr>
          <p:cNvPr id="135" name="execution-admission-label">
            <a:extLst>
              <a:ext uri="{FF2B5EF4-FFF2-40B4-BE49-F238E27FC236}">
                <a16:creationId xmlns:a16="http://schemas.microsoft.com/office/drawing/2014/main" id="{AB99992D-A2C3-4E7F-A5F8-7C0E37C12934}"/>
              </a:ext>
            </a:extLst>
          </p:cNvPr>
          <p:cNvSpPr>
            <a:spLocks noGrp="1"/>
          </p:cNvSpPr>
          <p:nvPr/>
        </p:nvSpPr>
        <p:spPr>
          <a:xfrm rot="0">
            <a:off x="7563961" y="6381750"/>
            <a:ext cx="4286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 fontAlgn="base">
              <a:defRPr sz="2372" lang="en-US" b="0" i="0" dirty="0">
                <a:solidFill>
                  <a:srgbClr val="3B5A7A"/>
                </a:solidFill>
                <a:latin typeface="Times New Roman"/>
                <a:ea typeface="Times New Roman"/>
              </a:defRPr>
            </a:pPr>
            <a14:m>
              <m:oMath>
                <m:r>
                  <m:rPr>
                    <m:sty m:val="i"/>
                  </m:rPr>
                  <a:rPr sz="2372" lang="en-US" b="0" i="0" dirty="0">
                    <a:solidFill>
                      <a:srgbClr val="3B5A7A"/>
                    </a:solidFill>
                    <a:latin typeface="Cambria Math"/>
                    <a:ea typeface="Cambria Math"/>
                  </a:rPr>
                  <m:t xml:space="preserve">A</m:t>
                </m:r>
              </m:oMath>
            </a14:m>
            <a:endParaRPr lang="en-US" sz="2372"/>
          </a:p>
        </p:txBody>
      </p:sp>
      <p:sp>
        <p:nvSpPr>
          <p:cNvPr id="136" name="execution-admission-x5">
            <a:extLst>
              <a:ext uri="{FF2B5EF4-FFF2-40B4-BE49-F238E27FC236}">
                <a16:creationId xmlns:a16="http://schemas.microsoft.com/office/drawing/2014/main" id="{DBC60BE7-0A85-461E-BF11-6FF3932697CF}"/>
              </a:ext>
            </a:extLst>
          </p:cNvPr>
          <p:cNvSpPr>
            <a:spLocks noGrp="1"/>
          </p:cNvSpPr>
          <p:nvPr/>
        </p:nvSpPr>
        <p:spPr>
          <a:xfrm>
            <a:off x="6992461" y="6800850"/>
            <a:ext cx="419100" cy="400050"/>
          </a:xfrm>
          <a:prstGeom prst="roundRect">
            <a:avLst>
              <a:gd name="adj" fmla="val 5881"/>
            </a:avLst>
          </a:prstGeom>
          <a:solidFill>
            <a:srgbClr val="FFFFFF"/>
          </a:solidFill>
          <a:ln w="23434">
            <a:solidFill>
              <a:srgbClr val="3B5A7A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3B5A7A"/>
                </a:solidFill>
                <a:latin typeface="Times New Roman"/>
                <a:ea typeface="Times New Roman"/>
              </a:defRPr>
            </a:pP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3B5A7A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3B5A7A"/>
                        </a:solidFill>
                        <a:latin typeface="Cambria Math"/>
                        <a:ea typeface="Cambria Math"/>
                      </a:rPr>
                      <m:t xml:space="preserve">x</m:t>
                    </m:r>
                  </m:e>
                  <m:sub>
                    <m:r>
                      <m:rPr>
                        <m:sty m:val="p"/>
                      </m:rPr>
                      <a:rPr sz="2372" lang="en-US" b="0" i="0" dirty="0">
                        <a:solidFill>
                          <a:srgbClr val="3B5A7A"/>
                        </a:solidFill>
                        <a:latin typeface="Cambria Math"/>
                        <a:ea typeface="Cambria Math"/>
                      </a:rPr>
                      <m:t xml:space="preserve">5</m:t>
                    </m:r>
                  </m:sub>
                </m:sSub>
              </m:oMath>
            </a14:m>
            <a:endParaRPr lang="en-US" sz="2372"/>
          </a:p>
        </p:txBody>
      </p:sp>
      <p:sp>
        <p:nvSpPr>
          <p:cNvPr id="137" name="execution-admission-x6">
            <a:extLst>
              <a:ext uri="{FF2B5EF4-FFF2-40B4-BE49-F238E27FC236}">
                <a16:creationId xmlns:a16="http://schemas.microsoft.com/office/drawing/2014/main" id="{156E5D95-9C7B-4C53-AC42-08BE24ABF6D8}"/>
              </a:ext>
            </a:extLst>
          </p:cNvPr>
          <p:cNvSpPr>
            <a:spLocks noGrp="1"/>
          </p:cNvSpPr>
          <p:nvPr/>
        </p:nvSpPr>
        <p:spPr>
          <a:xfrm>
            <a:off x="7449661" y="6800850"/>
            <a:ext cx="419100" cy="400050"/>
          </a:xfrm>
          <a:prstGeom prst="roundRect">
            <a:avLst>
              <a:gd name="adj" fmla="val 5881"/>
            </a:avLst>
          </a:prstGeom>
          <a:solidFill>
            <a:srgbClr val="FFFFFF"/>
          </a:solidFill>
          <a:ln w="23434">
            <a:solidFill>
              <a:srgbClr val="3B5A7A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3B5A7A"/>
                </a:solidFill>
                <a:latin typeface="Times New Roman"/>
                <a:ea typeface="Times New Roman"/>
              </a:defRPr>
            </a:pPr>
            <a14:m>
              <m:oMath>
                <m:sSub>
                  <m:sSubPr>
                    <m:ctrlPr>
                      <a:rPr sz="2372" lang="en-US" b="0" i="0" dirty="0">
                        <a:solidFill>
                          <a:srgbClr val="3B5A7A"/>
                        </a:solidFill>
                        <a:latin typeface="Cambria Math"/>
                        <a:ea typeface="Cambria Math"/>
                      </a:rPr>
                    </m:ctrlPr>
                  </m:sSubPr>
                  <m:e>
                    <m:r>
                      <m:rPr>
                        <m:sty m:val="i"/>
                      </m:rPr>
                      <a:rPr sz="2372" lang="en-US" b="0" i="0" dirty="0">
                        <a:solidFill>
                          <a:srgbClr val="3B5A7A"/>
                        </a:solidFill>
                        <a:latin typeface="Cambria Math"/>
                        <a:ea typeface="Cambria Math"/>
                      </a:rPr>
                      <m:t xml:space="preserve">x</m:t>
                    </m:r>
                  </m:e>
                  <m:sub>
                    <m:r>
                      <m:rPr>
                        <m:sty m:val="p"/>
                      </m:rPr>
                      <a:rPr sz="2372" lang="en-US" b="0" i="0" dirty="0">
                        <a:solidFill>
                          <a:srgbClr val="3B5A7A"/>
                        </a:solidFill>
                        <a:latin typeface="Cambria Math"/>
                        <a:ea typeface="Cambria Math"/>
                      </a:rPr>
                      <m:t xml:space="preserve">6</m:t>
                    </m:r>
                  </m:sub>
                </m:sSub>
              </m:oMath>
            </a14:m>
            <a:endParaRPr lang="en-US" sz="2372"/>
          </a:p>
        </p:txBody>
      </p:sp>
      <p:cxnSp>
        <p:nvCxnSpPr>
          <p:cNvPr id="138" name="admission-instances-to-acceptance">
            <a:extLst>
              <a:ext uri="{FF2B5EF4-FFF2-40B4-BE49-F238E27FC236}">
                <a16:creationId xmlns:a16="http://schemas.microsoft.com/office/drawing/2014/main" id="{B8763493-C920-457A-8242-7E264BCA18D2}"/>
              </a:ext>
            </a:extLst>
          </p:cNvPr>
          <p:cNvCxnSpPr/>
          <p:nvPr/>
        </p:nvCxnSpPr>
        <p:spPr>
          <a:xfrm>
            <a:off x="7906861" y="7000875"/>
            <a:ext cx="609600" cy="95"/>
          </a:xfrm>
          <a:prstGeom prst="line">
            <a:avLst/>
          </a:prstGeom>
          <a:noFill/>
          <a:ln w="23434" cap="rnd">
            <a:solidFill>
              <a:srgbClr val="3B5A7A"/>
            </a:solidFill>
            <a:prstDash val="solid"/>
            <a:round/>
            <a:headEnd type="none"/>
            <a:tailEnd type="triangle" w="med" len="lg"/>
          </a:ln>
        </p:spPr>
      </p:cxnSp>
      <p:sp>
        <p:nvSpPr>
          <p:cNvPr id="139" name="execution-acceptance">
            <a:extLst>
              <a:ext uri="{FF2B5EF4-FFF2-40B4-BE49-F238E27FC236}">
                <a16:creationId xmlns:a16="http://schemas.microsoft.com/office/drawing/2014/main" id="{C1DAF6FE-355E-4508-A26D-CF0307752147}"/>
              </a:ext>
            </a:extLst>
          </p:cNvPr>
          <p:cNvSpPr>
            <a:spLocks noGrp="1"/>
          </p:cNvSpPr>
          <p:nvPr/>
        </p:nvSpPr>
        <p:spPr>
          <a:xfrm>
            <a:off x="8568849" y="6762750"/>
            <a:ext cx="1952625" cy="476250"/>
          </a:xfrm>
          <a:prstGeom prst="roundRect">
            <a:avLst>
              <a:gd name="adj" fmla="val 12700"/>
            </a:avLst>
          </a:prstGeom>
          <a:solidFill>
            <a:srgbClr val="FFFFFF"/>
          </a:solidFill>
          <a:ln w="20086">
            <a:solidFill>
              <a:srgbClr val="3B5A7A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1B2733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1B2733"/>
                </a:solidFill>
                <a:latin typeface="Times New Roman"/>
                <a:ea typeface="Times New Roman"/>
              </a:rPr>
              <a:t xml:space="preserve">Accept if </a:t>
            </a:r>
            <a14:m>
              <m:oMath>
                <m:r>
                  <m:rPr>
                    <m:sty m:val="p"/>
                  </m:rPr>
                  <a:rPr sz="2372" lang="en-US" b="0" i="0" dirty="0">
                    <a:solidFill>
                      <a:srgbClr val="1B2733"/>
                    </a:solidFill>
                    <a:latin typeface="Cambria Math"/>
                    <a:ea typeface="Cambria Math"/>
                  </a:rPr>
                  <m:t xml:space="preserve">Δ</m:t>
                </m:r>
                <m:r>
                  <m:rPr>
                    <m:sty m:val="p"/>
                  </m:rPr>
                  <a:rPr sz="2372" lang="en-US" b="0" i="0" dirty="0">
                    <a:solidFill>
                      <a:srgbClr val="1B2733"/>
                    </a:solidFill>
                    <a:latin typeface="Cambria Math"/>
                    <a:ea typeface="Cambria Math"/>
                  </a:rPr>
                  <m:t xml:space="preserve">&gt;</m:t>
                </m:r>
                <m:r>
                  <m:rPr>
                    <m:sty m:val="p"/>
                  </m:rPr>
                  <a:rPr sz="2372" lang="en-US" b="0" i="0" dirty="0">
                    <a:solidFill>
                      <a:srgbClr val="1B2733"/>
                    </a:solidFill>
                    <a:latin typeface="Cambria Math"/>
                    <a:ea typeface="Cambria Math"/>
                  </a:rPr>
                  <m:t xml:space="preserve">0</m:t>
                </m:r>
              </m:oMath>
            </a14:m>
            <a:endParaRPr lang="en-US" sz="2372"/>
          </a:p>
        </p:txBody>
      </p:sp>
      <p:cxnSp>
        <p:nvCxnSpPr>
          <p:cNvPr id="140" name="acceptance-to-accepted-program">
            <a:extLst>
              <a:ext uri="{FF2B5EF4-FFF2-40B4-BE49-F238E27FC236}">
                <a16:creationId xmlns:a16="http://schemas.microsoft.com/office/drawing/2014/main" id="{0C277BDA-6BF8-4329-85E3-A5BF5F883975}"/>
              </a:ext>
            </a:extLst>
          </p:cNvPr>
          <p:cNvCxnSpPr/>
          <p:nvPr/>
        </p:nvCxnSpPr>
        <p:spPr>
          <a:xfrm>
            <a:off x="10535761" y="7000875"/>
            <a:ext cx="285750" cy="95"/>
          </a:xfrm>
          <a:prstGeom prst="line">
            <a:avLst/>
          </a:prstGeom>
          <a:noFill/>
          <a:ln w="23434" cap="rnd">
            <a:solidFill>
              <a:srgbClr val="3B5A7A"/>
            </a:solidFill>
            <a:prstDash val="solid"/>
            <a:round/>
            <a:headEnd type="none"/>
            <a:tailEnd type="triangle" w="med" len="lg"/>
          </a:ln>
        </p:spPr>
      </p:cxnSp>
      <p:sp>
        <p:nvSpPr>
          <p:cNvPr id="141" name="execution-accepted-program">
            <a:extLst>
              <a:ext uri="{FF2B5EF4-FFF2-40B4-BE49-F238E27FC236}">
                <a16:creationId xmlns:a16="http://schemas.microsoft.com/office/drawing/2014/main" id="{A69662C4-BAA3-43E7-9733-3BB930B82BEA}"/>
              </a:ext>
            </a:extLst>
          </p:cNvPr>
          <p:cNvSpPr>
            <a:spLocks noGrp="1"/>
          </p:cNvSpPr>
          <p:nvPr/>
        </p:nvSpPr>
        <p:spPr>
          <a:xfrm>
            <a:off x="10878661" y="6762750"/>
            <a:ext cx="1809750" cy="476250"/>
          </a:xfrm>
          <a:prstGeom prst="roundRect">
            <a:avLst>
              <a:gd name="adj" fmla="val 12700"/>
            </a:avLst>
          </a:prstGeom>
          <a:solidFill>
            <a:srgbClr val="FFFFFF"/>
          </a:solidFill>
          <a:ln w="20086">
            <a:solidFill>
              <a:srgbClr val="B4BEC8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defRPr sz="2372" lang="en-US" b="0" i="0" dirty="0">
                <a:solidFill>
                  <a:srgbClr val="1B2733"/>
                </a:solidFill>
                <a:latin typeface="Times New Roman"/>
                <a:ea typeface="Times New Roman"/>
              </a:defRPr>
            </a:pPr>
            <a:r>
              <a:rPr sz="2372" lang="en-US" b="0" i="0" dirty="0">
                <a:solidFill>
                  <a:srgbClr val="1B2733"/>
                </a:solidFill>
                <a:latin typeface="Times New Roman"/>
                <a:ea typeface="Times New Roman"/>
              </a:rPr>
              <a:t xml:space="preserve">Accepted </a:t>
            </a:r>
            <a14:m>
              <m:oMath>
                <m:r>
                  <m:rPr>
                    <m:sty m:val="i"/>
                  </m:rPr>
                  <a:rPr sz="2372" lang="en-US" b="0" i="0" dirty="0">
                    <a:solidFill>
                      <a:srgbClr val="1B2733"/>
                    </a:solidFill>
                    <a:latin typeface="Cambria Math"/>
                    <a:ea typeface="Cambria Math"/>
                  </a:rPr>
                  <m:t xml:space="preserve">p</m:t>
                </m:r>
              </m:oMath>
            </a14:m>
            <a:endParaRPr lang="en-US" sz="2372"/>
          </a:p>
        </p:txBody>
      </p:sp>
      <p:cxnSp>
        <p:nvCxnSpPr>
          <p:cNvPr id="142" name="proposal-output-stem">
            <a:extLst>
              <a:ext uri="{FF2B5EF4-FFF2-40B4-BE49-F238E27FC236}">
                <a16:creationId xmlns:a16="http://schemas.microsoft.com/office/drawing/2014/main" id="{64694CEA-3C8C-427D-84B1-2596F11C4A43}"/>
              </a:ext>
            </a:extLst>
          </p:cNvPr>
          <p:cNvCxnSpPr/>
          <p:nvPr/>
        </p:nvCxnSpPr>
        <p:spPr>
          <a:xfrm>
            <a:off x="2291874" y="6134100"/>
            <a:ext cx="95" cy="200025"/>
          </a:xfrm>
          <a:prstGeom prst="line">
            <a:avLst/>
          </a:prstGeom>
          <a:noFill/>
          <a:ln w="23434" cap="rnd">
            <a:solidFill>
              <a:srgbClr val="1F7A6B"/>
            </a:solidFill>
            <a:prstDash val="solid"/>
            <a:round/>
            <a:headEnd type="none"/>
            <a:tailEnd type="none" w="med" len="lg"/>
          </a:ln>
        </p:spPr>
      </p:cxnSp>
      <p:cxnSp>
        <p:nvCxnSpPr>
          <p:cNvPr id="143" name="proposal-output-branch">
            <a:extLst>
              <a:ext uri="{FF2B5EF4-FFF2-40B4-BE49-F238E27FC236}">
                <a16:creationId xmlns:a16="http://schemas.microsoft.com/office/drawing/2014/main" id="{EE253D09-C61A-416E-99F9-B5786FB88997}"/>
              </a:ext>
            </a:extLst>
          </p:cNvPr>
          <p:cNvCxnSpPr/>
          <p:nvPr/>
        </p:nvCxnSpPr>
        <p:spPr>
          <a:xfrm>
            <a:off x="1496536" y="6334125"/>
            <a:ext cx="1590675" cy="95"/>
          </a:xfrm>
          <a:prstGeom prst="line">
            <a:avLst/>
          </a:prstGeom>
          <a:noFill/>
          <a:ln w="23434" cap="rnd">
            <a:solidFill>
              <a:srgbClr val="1F7A6B"/>
            </a:solidFill>
            <a:prstDash val="solid"/>
            <a:round/>
            <a:headEnd type="none"/>
            <a:tailEnd type="none" w="med" len="lg"/>
          </a:ln>
        </p:spPr>
      </p:cxnSp>
      <p:cxnSp>
        <p:nvCxnSpPr>
          <p:cNvPr id="144" name="proposal-output-parent">
            <a:extLst>
              <a:ext uri="{FF2B5EF4-FFF2-40B4-BE49-F238E27FC236}">
                <a16:creationId xmlns:a16="http://schemas.microsoft.com/office/drawing/2014/main" id="{32A61924-FCA5-4453-A88A-CF915966987A}"/>
              </a:ext>
            </a:extLst>
          </p:cNvPr>
          <p:cNvCxnSpPr/>
          <p:nvPr/>
        </p:nvCxnSpPr>
        <p:spPr>
          <a:xfrm>
            <a:off x="1496536" y="6334125"/>
            <a:ext cx="95" cy="428625"/>
          </a:xfrm>
          <a:prstGeom prst="line">
            <a:avLst/>
          </a:prstGeom>
          <a:noFill/>
          <a:ln w="23434" cap="rnd">
            <a:solidFill>
              <a:srgbClr val="1F7A6B"/>
            </a:solidFill>
            <a:prstDash val="solid"/>
            <a:round/>
            <a:headEnd type="none"/>
            <a:tailEnd type="triangle" w="med" len="lg"/>
          </a:ln>
        </p:spPr>
      </p:cxnSp>
      <p:cxnSp>
        <p:nvCxnSpPr>
          <p:cNvPr id="145" name="proposal-output-instances">
            <a:extLst>
              <a:ext uri="{FF2B5EF4-FFF2-40B4-BE49-F238E27FC236}">
                <a16:creationId xmlns:a16="http://schemas.microsoft.com/office/drawing/2014/main" id="{358BC8C9-F26E-496B-AEF2-D791D69A4B4D}"/>
              </a:ext>
            </a:extLst>
          </p:cNvPr>
          <p:cNvCxnSpPr/>
          <p:nvPr/>
        </p:nvCxnSpPr>
        <p:spPr>
          <a:xfrm>
            <a:off x="3087211" y="6334125"/>
            <a:ext cx="95" cy="466725"/>
          </a:xfrm>
          <a:prstGeom prst="line">
            <a:avLst/>
          </a:prstGeom>
          <a:noFill/>
          <a:ln w="23434" cap="rnd">
            <a:solidFill>
              <a:srgbClr val="1F7A6B"/>
            </a:solidFill>
            <a:prstDash val="solid"/>
            <a:round/>
            <a:headEnd type="none"/>
            <a:tailEnd type="triangle" w="med" len="lg"/>
          </a:ln>
        </p:spPr>
      </p:cxnSp>
      <p:cxnSp>
        <p:nvCxnSpPr>
          <p:cNvPr id="146" name="admission-output-instances">
            <a:extLst>
              <a:ext uri="{FF2B5EF4-FFF2-40B4-BE49-F238E27FC236}">
                <a16:creationId xmlns:a16="http://schemas.microsoft.com/office/drawing/2014/main" id="{20DF2A25-29C5-43E2-B71F-D113503E2E23}"/>
              </a:ext>
            </a:extLst>
          </p:cNvPr>
          <p:cNvCxnSpPr/>
          <p:nvPr/>
        </p:nvCxnSpPr>
        <p:spPr>
          <a:xfrm>
            <a:off x="7430611" y="6134100"/>
            <a:ext cx="95" cy="666750"/>
          </a:xfrm>
          <a:prstGeom prst="line">
            <a:avLst/>
          </a:prstGeom>
          <a:noFill/>
          <a:ln w="23434" cap="rnd">
            <a:solidFill>
              <a:srgbClr val="3B5A7A"/>
            </a:solidFill>
            <a:prstDash val="solid"/>
            <a:round/>
            <a:headEnd type="none"/>
            <a:tailEnd type="triangle" w="med" len="lg"/>
          </a:ln>
        </p:spPr>
      </p:cxnSp>
    </p:spTree>
    <p:extLst>
      <p:ext uri="{BB962C8B-B14F-4D97-AF65-F5344CB8AC3E}">
        <p14:creationId xmlns:p14="http://schemas.microsoft.com/office/powerpoint/2010/main" val="11646508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2026-09-23T11:38:14.9090000Z</dcterms:created>
  <dcterms:modified xsi:type="dcterms:W3CDTF">2026-09-23T11:38:14.9090000Z</dcterms:modified>
</coreProperties>
</file>